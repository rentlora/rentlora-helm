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4630400" cy="8229600"/>
  <p:notesSz cx="8229600" cy="14630400"/>
  <p:embeddedFontLst>
    <p:embeddedFont>
      <p:font typeface="Instrument Sans Semi Bold"/>
      <p:regular r:id="rId18"/>
    </p:embeddedFont>
    <p:embeddedFont>
      <p:font typeface="Instrument Sans Semi Bold"/>
      <p:regular r:id="rId19"/>
    </p:embeddedFont>
    <p:embeddedFont>
      <p:font typeface="Instrument Sans Semi Bold"/>
      <p:regular r:id="rId20"/>
    </p:embeddedFont>
    <p:embeddedFont>
      <p:font typeface="Instrument Sans Semi Bold"/>
      <p:regular r:id="rId21"/>
    </p:embeddedFont>
    <p:embeddedFont>
      <p:font typeface="Instrument Sans Medium"/>
      <p:regular r:id="rId22"/>
    </p:embeddedFont>
    <p:embeddedFont>
      <p:font typeface="Instrument Sans Medium"/>
      <p:regular r:id="rId23"/>
    </p:embeddedFont>
    <p:embeddedFont>
      <p:font typeface="Instrument Sans Medium"/>
      <p:regular r:id="rId24"/>
    </p:embeddedFont>
    <p:embeddedFont>
      <p:font typeface="Instrument Sans Medium"/>
      <p:regular r:id="rId25"/>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font" Target="fonts/font1.fntdata"/><Relationship Id="rId19" Type="http://schemas.openxmlformats.org/officeDocument/2006/relationships/font" Target="fonts/font2.fntdata"/><Relationship Id="rId20" Type="http://schemas.openxmlformats.org/officeDocument/2006/relationships/font" Target="fonts/font3.fntdata"/><Relationship Id="rId21" Type="http://schemas.openxmlformats.org/officeDocument/2006/relationships/font" Target="fonts/font4.fntdata"/><Relationship Id="rId22" Type="http://schemas.openxmlformats.org/officeDocument/2006/relationships/font" Target="fonts/font5.fntdata"/><Relationship Id="rId23" Type="http://schemas.openxmlformats.org/officeDocument/2006/relationships/font" Target="fonts/font6.fntdata"/><Relationship Id="rId24" Type="http://schemas.openxmlformats.org/officeDocument/2006/relationships/font" Target="fonts/font7.fntdata"/><Relationship Id="rId25"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4.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hyperlink" Target="http://headlamp.rentlora.in" TargetMode="External"/><Relationship Id="rId1" Type="http://schemas.openxmlformats.org/officeDocument/2006/relationships/image" Target="../media/image-8-1.png"/><Relationship Id="rId3" Type="http://schemas.openxmlformats.org/officeDocument/2006/relationships/slideLayout" Target="../slideLayouts/slideLayout9.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hyperlink" Target="http://argocd.rentlora.in" TargetMode="External"/><Relationship Id="rId1" Type="http://schemas.openxmlformats.org/officeDocument/2006/relationships/image" Target="../media/image-9-1.png"/><Relationship Id="rId3" Type="http://schemas.openxmlformats.org/officeDocument/2006/relationships/slideLayout" Target="../slideLayouts/slideLayout10.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hyperlink" Target="http://grafana.rentlora.in" TargetMode="External"/><Relationship Id="rId1" Type="http://schemas.openxmlformats.org/officeDocument/2006/relationships/image" Target="../media/image-10-1.png"/><Relationship Id="rId3" Type="http://schemas.openxmlformats.org/officeDocument/2006/relationships/slideLayout" Target="../slideLayouts/slideLayout1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82228" y="600551"/>
            <a:ext cx="4931093" cy="609124"/>
          </a:xfrm>
          <a:prstGeom prst="rect">
            <a:avLst/>
          </a:prstGeom>
          <a:noFill/>
          <a:ln/>
        </p:spPr>
        <p:txBody>
          <a:bodyPr wrap="none" lIns="0" tIns="0" rIns="0" bIns="0" rtlCol="0" anchor="t"/>
          <a:lstStyle/>
          <a:p>
            <a:pPr algn="l" indent="0" marL="0">
              <a:lnSpc>
                <a:spcPts val="4750"/>
              </a:lnSpc>
              <a:buNone/>
            </a:pPr>
            <a:r>
              <a:rPr lang="en-US" sz="3800" dirty="0">
                <a:solidFill>
                  <a:srgbClr val="091C53"/>
                </a:solidFill>
                <a:latin typeface="Instrument Sans Semi Bold" pitchFamily="34" charset="0"/>
                <a:ea typeface="Instrument Sans Semi Bold" pitchFamily="34" charset="-122"/>
                <a:cs typeface="Instrument Sans Semi Bold" pitchFamily="34" charset="-120"/>
              </a:rPr>
              <a:t>Helm Chart Structure</a:t>
            </a:r>
            <a:endParaRPr lang="en-US" sz="3800" dirty="0"/>
          </a:p>
        </p:txBody>
      </p:sp>
      <p:sp>
        <p:nvSpPr>
          <p:cNvPr id="3" name="Text 1"/>
          <p:cNvSpPr/>
          <p:nvPr/>
        </p:nvSpPr>
        <p:spPr>
          <a:xfrm>
            <a:off x="682228" y="1276588"/>
            <a:ext cx="3319105" cy="304562"/>
          </a:xfrm>
          <a:prstGeom prst="rect">
            <a:avLst/>
          </a:prstGeom>
          <a:noFill/>
          <a:ln/>
        </p:spPr>
        <p:txBody>
          <a:bodyPr wrap="none" lIns="0" tIns="0" rIns="0" bIns="0" rtlCol="0" anchor="t"/>
          <a:lstStyle/>
          <a:p>
            <a:pPr algn="l" indent="0" marL="0">
              <a:lnSpc>
                <a:spcPts val="2350"/>
              </a:lnSpc>
              <a:buNone/>
            </a:pPr>
            <a:r>
              <a:rPr lang="en-US" sz="1900" dirty="0">
                <a:solidFill>
                  <a:srgbClr val="091C53"/>
                </a:solidFill>
                <a:latin typeface="Instrument Sans Semi Bold" pitchFamily="34" charset="0"/>
                <a:ea typeface="Instrument Sans Semi Bold" pitchFamily="34" charset="-122"/>
                <a:cs typeface="Instrument Sans Semi Bold" pitchFamily="34" charset="-120"/>
              </a:rPr>
              <a:t>GitOps-Driven Configuration</a:t>
            </a:r>
            <a:endParaRPr lang="en-US" sz="1900" dirty="0"/>
          </a:p>
        </p:txBody>
      </p:sp>
      <p:sp>
        <p:nvSpPr>
          <p:cNvPr id="4" name="Text 2"/>
          <p:cNvSpPr/>
          <p:nvPr/>
        </p:nvSpPr>
        <p:spPr>
          <a:xfrm>
            <a:off x="682228" y="1832372"/>
            <a:ext cx="13265944" cy="579834"/>
          </a:xfrm>
          <a:prstGeom prst="rect">
            <a:avLst/>
          </a:prstGeom>
          <a:noFill/>
          <a:ln/>
        </p:spPr>
        <p:txBody>
          <a:bodyPr wrap="square" lIns="0" tIns="0" rIns="0" bIns="0" rtlCol="0" anchor="t"/>
          <a:lstStyle/>
          <a:p>
            <a:pPr algn="l" indent="0" marL="0">
              <a:lnSpc>
                <a:spcPts val="2250"/>
              </a:lnSpc>
              <a:buNone/>
            </a:pPr>
            <a:r>
              <a:rPr lang="en-US" sz="1500" dirty="0">
                <a:solidFill>
                  <a:srgbClr val="1E3063"/>
                </a:solidFill>
                <a:latin typeface="Instrument Sans Medium" pitchFamily="34" charset="0"/>
                <a:ea typeface="Instrument Sans Medium" pitchFamily="34" charset="-122"/>
                <a:cs typeface="Instrument Sans Medium" pitchFamily="34" charset="-120"/>
              </a:rPr>
              <a:t>The Helm repository serves as the single source of truth for all Kubernetes manifests. ArgoCD continuously watches this repository and automatically syncs any changes to keep the cluster state in perfect alignment with the declared configuration.</a:t>
            </a:r>
            <a:endParaRPr lang="en-US" sz="1500" dirty="0"/>
          </a:p>
        </p:txBody>
      </p:sp>
      <p:sp>
        <p:nvSpPr>
          <p:cNvPr id="5" name="Shape 3"/>
          <p:cNvSpPr/>
          <p:nvPr/>
        </p:nvSpPr>
        <p:spPr>
          <a:xfrm>
            <a:off x="682228" y="2600563"/>
            <a:ext cx="13265944" cy="5028486"/>
          </a:xfrm>
          <a:prstGeom prst="roundRect">
            <a:avLst>
              <a:gd name="adj" fmla="val 3489"/>
            </a:avLst>
          </a:prstGeom>
          <a:solidFill>
            <a:srgbClr val="F2F2F2"/>
          </a:solidFill>
          <a:ln/>
        </p:spPr>
      </p:sp>
      <p:sp>
        <p:nvSpPr>
          <p:cNvPr id="6" name="Shape 4"/>
          <p:cNvSpPr/>
          <p:nvPr/>
        </p:nvSpPr>
        <p:spPr>
          <a:xfrm>
            <a:off x="672584" y="2600563"/>
            <a:ext cx="13285232" cy="5028486"/>
          </a:xfrm>
          <a:prstGeom prst="roundRect">
            <a:avLst>
              <a:gd name="adj" fmla="val 581"/>
            </a:avLst>
          </a:prstGeom>
          <a:solidFill>
            <a:srgbClr val="F2F2F2"/>
          </a:solidFill>
          <a:ln/>
        </p:spPr>
      </p:sp>
      <p:sp>
        <p:nvSpPr>
          <p:cNvPr id="7" name="Text 5"/>
          <p:cNvSpPr/>
          <p:nvPr/>
        </p:nvSpPr>
        <p:spPr>
          <a:xfrm>
            <a:off x="916186" y="2795468"/>
            <a:ext cx="12798028" cy="4638675"/>
          </a:xfrm>
          <a:prstGeom prst="rect">
            <a:avLst/>
          </a:prstGeom>
          <a:noFill/>
          <a:ln/>
        </p:spPr>
        <p:txBody>
          <a:bodyPr wrap="square" lIns="0" tIns="0" rIns="0" bIns="0" rtlCol="0" anchor="t"/>
          <a:lstStyle/>
          <a:p>
            <a:pPr algn="l" indent="0" marL="0">
              <a:lnSpc>
                <a:spcPts val="2250"/>
              </a:lnSpc>
              <a:buNone/>
            </a:pPr>
            <a:r>
              <a:rPr lang="en-US" sz="1500" dirty="0">
                <a:solidFill>
                  <a:srgbClr val="1E3063"/>
                </a:solidFill>
                <a:latin typeface="Consolas Medium" pitchFamily="34" charset="0"/>
                <a:ea typeface="Consolas Medium" pitchFamily="34" charset="-122"/>
                <a:cs typeface="Consolas Medium" pitchFamily="34" charset="-120"/>
              </a:rPr>
              <a:t>helm/
├── argocd/
│ ├── dev/
│ └── prod/
├── cluster-infra/
├── kgateway/
├── mongodb/
├── rentlora-ui/
├── rentlora-user-service/
├── rentlora-property-service/
├── rentlora-booking-service/
├── rentlora-payment-service/
├── rentlora-ai-service/
├── root-app-dev.yaml
└── root-app-prod.yaml
</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491020"/>
            <a:ext cx="9385221" cy="708779"/>
          </a:xfrm>
          <a:prstGeom prst="rect">
            <a:avLst/>
          </a:prstGeom>
          <a:noFill/>
          <a:ln/>
        </p:spPr>
        <p:txBody>
          <a:bodyPr wrap="none" lIns="0" tIns="0" rIns="0" bIns="0" rtlCol="0" anchor="t"/>
          <a:lstStyle/>
          <a:p>
            <a:pPr algn="l" indent="0" marL="0">
              <a:lnSpc>
                <a:spcPts val="5550"/>
              </a:lnSpc>
              <a:buNone/>
            </a:pPr>
            <a:r>
              <a:rPr lang="en-US" sz="4450" dirty="0">
                <a:solidFill>
                  <a:srgbClr val="091C53"/>
                </a:solidFill>
                <a:latin typeface="Instrument Sans Semi Bold" pitchFamily="34" charset="0"/>
                <a:ea typeface="Instrument Sans Semi Bold" pitchFamily="34" charset="-122"/>
                <a:cs typeface="Instrument Sans Semi Bold" pitchFamily="34" charset="-120"/>
              </a:rPr>
              <a:t>Branch Strategy &amp; Protection Rules</a:t>
            </a:r>
            <a:endParaRPr lang="en-US" sz="4450" dirty="0"/>
          </a:p>
        </p:txBody>
      </p:sp>
      <p:sp>
        <p:nvSpPr>
          <p:cNvPr id="3" name="Shape 1"/>
          <p:cNvSpPr/>
          <p:nvPr/>
        </p:nvSpPr>
        <p:spPr>
          <a:xfrm>
            <a:off x="793790" y="2653427"/>
            <a:ext cx="4196358" cy="4085153"/>
          </a:xfrm>
          <a:prstGeom prst="roundRect">
            <a:avLst>
              <a:gd name="adj" fmla="val 4997"/>
            </a:avLst>
          </a:prstGeom>
          <a:solidFill>
            <a:srgbClr val="CEE6FD"/>
          </a:solidFill>
          <a:ln/>
        </p:spPr>
      </p:sp>
      <p:sp>
        <p:nvSpPr>
          <p:cNvPr id="4" name="Text 2"/>
          <p:cNvSpPr/>
          <p:nvPr/>
        </p:nvSpPr>
        <p:spPr>
          <a:xfrm>
            <a:off x="1020604" y="2880241"/>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1E3063"/>
                </a:solidFill>
                <a:latin typeface="Instrument Sans Semi Bold" pitchFamily="34" charset="0"/>
                <a:ea typeface="Instrument Sans Semi Bold" pitchFamily="34" charset="-122"/>
                <a:cs typeface="Instrument Sans Semi Bold" pitchFamily="34" charset="-120"/>
              </a:rPr>
              <a:t>Branch Model</a:t>
            </a:r>
            <a:endParaRPr lang="en-US" sz="2200" dirty="0"/>
          </a:p>
        </p:txBody>
      </p:sp>
      <p:sp>
        <p:nvSpPr>
          <p:cNvPr id="5" name="Text 3"/>
          <p:cNvSpPr/>
          <p:nvPr/>
        </p:nvSpPr>
        <p:spPr>
          <a:xfrm>
            <a:off x="1020604" y="3370659"/>
            <a:ext cx="3742730" cy="725805"/>
          </a:xfrm>
          <a:prstGeom prst="rect">
            <a:avLst/>
          </a:prstGeom>
          <a:noFill/>
          <a:ln/>
        </p:spPr>
        <p:txBody>
          <a:bodyPr wrap="square" lIns="0" tIns="0" rIns="0" bIns="0" rtlCol="0" anchor="t"/>
          <a:lstStyle/>
          <a:p>
            <a:pPr algn="l" indent="0" marL="0">
              <a:lnSpc>
                <a:spcPts val="2850"/>
              </a:lnSpc>
              <a:buNone/>
            </a:pPr>
            <a:r>
              <a:rPr lang="en-US" sz="1750" b="1" dirty="0">
                <a:solidFill>
                  <a:srgbClr val="1E3063"/>
                </a:solidFill>
                <a:latin typeface="Instrument Sans Medium" pitchFamily="34" charset="0"/>
                <a:ea typeface="Instrument Sans Medium" pitchFamily="34" charset="-122"/>
                <a:cs typeface="Instrument Sans Medium" pitchFamily="34" charset="-120"/>
              </a:rPr>
              <a:t>main</a:t>
            </a:r>
            <a:pPr algn="l" indent="0" marL="0">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 branch contains only production-ready code</a:t>
            </a:r>
            <a:endParaRPr lang="en-US" sz="1750" dirty="0"/>
          </a:p>
        </p:txBody>
      </p:sp>
      <p:sp>
        <p:nvSpPr>
          <p:cNvPr id="6" name="Text 4"/>
          <p:cNvSpPr/>
          <p:nvPr/>
        </p:nvSpPr>
        <p:spPr>
          <a:xfrm>
            <a:off x="1020604" y="4232553"/>
            <a:ext cx="3742730" cy="725805"/>
          </a:xfrm>
          <a:prstGeom prst="rect">
            <a:avLst/>
          </a:prstGeom>
          <a:noFill/>
          <a:ln/>
        </p:spPr>
        <p:txBody>
          <a:bodyPr wrap="square" lIns="0" tIns="0" rIns="0" bIns="0" rtlCol="0" anchor="t"/>
          <a:lstStyle/>
          <a:p>
            <a:pPr algn="l" indent="0" marL="0">
              <a:lnSpc>
                <a:spcPts val="2850"/>
              </a:lnSpc>
              <a:buNone/>
            </a:pPr>
            <a:r>
              <a:rPr lang="en-US" sz="1750" b="1" dirty="0">
                <a:solidFill>
                  <a:srgbClr val="1E3063"/>
                </a:solidFill>
                <a:latin typeface="Instrument Sans Medium" pitchFamily="34" charset="0"/>
                <a:ea typeface="Instrument Sans Medium" pitchFamily="34" charset="-122"/>
                <a:cs typeface="Instrument Sans Medium" pitchFamily="34" charset="-120"/>
              </a:rPr>
              <a:t>develop</a:t>
            </a:r>
            <a:pPr algn="l" indent="0" marL="0">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 branch handles integration and development work</a:t>
            </a:r>
            <a:endParaRPr lang="en-US" sz="1750" dirty="0"/>
          </a:p>
        </p:txBody>
      </p:sp>
      <p:sp>
        <p:nvSpPr>
          <p:cNvPr id="7" name="Shape 5"/>
          <p:cNvSpPr/>
          <p:nvPr/>
        </p:nvSpPr>
        <p:spPr>
          <a:xfrm>
            <a:off x="5216962" y="2653427"/>
            <a:ext cx="4196358" cy="4085153"/>
          </a:xfrm>
          <a:prstGeom prst="roundRect">
            <a:avLst>
              <a:gd name="adj" fmla="val 4997"/>
            </a:avLst>
          </a:prstGeom>
          <a:solidFill>
            <a:srgbClr val="CEE6FD"/>
          </a:solidFill>
          <a:ln/>
        </p:spPr>
      </p:sp>
      <p:sp>
        <p:nvSpPr>
          <p:cNvPr id="8" name="Text 6"/>
          <p:cNvSpPr/>
          <p:nvPr/>
        </p:nvSpPr>
        <p:spPr>
          <a:xfrm>
            <a:off x="5443776" y="2880241"/>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1E3063"/>
                </a:solidFill>
                <a:latin typeface="Instrument Sans Semi Bold" pitchFamily="34" charset="0"/>
                <a:ea typeface="Instrument Sans Semi Bold" pitchFamily="34" charset="-122"/>
                <a:cs typeface="Instrument Sans Semi Bold" pitchFamily="34" charset="-120"/>
              </a:rPr>
              <a:t>Protection Rules</a:t>
            </a:r>
            <a:endParaRPr lang="en-US" sz="2200" dirty="0"/>
          </a:p>
        </p:txBody>
      </p:sp>
      <p:sp>
        <p:nvSpPr>
          <p:cNvPr id="9" name="Text 7"/>
          <p:cNvSpPr/>
          <p:nvPr/>
        </p:nvSpPr>
        <p:spPr>
          <a:xfrm>
            <a:off x="5443776" y="3370659"/>
            <a:ext cx="3742730" cy="3141107"/>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1E3063"/>
                </a:solidFill>
                <a:latin typeface="Instrument Sans Medium" pitchFamily="34" charset="0"/>
                <a:ea typeface="Instrument Sans Medium" pitchFamily="34" charset="-122"/>
                <a:cs typeface="Instrument Sans Medium" pitchFamily="34" charset="-120"/>
              </a:rPr>
              <a:t>Direct pushes blocked on both branches</a:t>
            </a:r>
            <a:endParaRPr lang="en-US" sz="1750" dirty="0"/>
          </a:p>
          <a:p>
            <a:pPr algn="l" marL="342900" indent="-342900">
              <a:lnSpc>
                <a:spcPts val="2850"/>
              </a:lnSpc>
              <a:buSzPct val="100000"/>
              <a:buChar char="•"/>
            </a:pPr>
            <a:r>
              <a:rPr lang="en-US" sz="1750" dirty="0">
                <a:solidFill>
                  <a:srgbClr val="1E3063"/>
                </a:solidFill>
                <a:latin typeface="Instrument Sans Medium" pitchFamily="34" charset="0"/>
                <a:ea typeface="Instrument Sans Medium" pitchFamily="34" charset="-122"/>
                <a:cs typeface="Instrument Sans Medium" pitchFamily="34" charset="-120"/>
              </a:rPr>
              <a:t>Minimum 1 approving review required</a:t>
            </a:r>
            <a:endParaRPr lang="en-US" sz="1750" dirty="0"/>
          </a:p>
          <a:p>
            <a:pPr algn="l" marL="342900" indent="-342900">
              <a:lnSpc>
                <a:spcPts val="2850"/>
              </a:lnSpc>
              <a:buSzPct val="100000"/>
              <a:buChar char="•"/>
            </a:pPr>
            <a:r>
              <a:rPr lang="en-US" sz="1750" dirty="0">
                <a:solidFill>
                  <a:srgbClr val="1E3063"/>
                </a:solidFill>
                <a:latin typeface="Instrument Sans Medium" pitchFamily="34" charset="0"/>
                <a:ea typeface="Instrument Sans Medium" pitchFamily="34" charset="-122"/>
                <a:cs typeface="Instrument Sans Medium" pitchFamily="34" charset="-120"/>
              </a:rPr>
              <a:t>All CI checks must pass before merge</a:t>
            </a:r>
            <a:endParaRPr lang="en-US" sz="1750" dirty="0"/>
          </a:p>
          <a:p>
            <a:pPr algn="l" marL="342900" indent="-342900">
              <a:lnSpc>
                <a:spcPts val="2850"/>
              </a:lnSpc>
              <a:buSzPct val="100000"/>
              <a:buChar char="•"/>
            </a:pPr>
            <a:r>
              <a:rPr lang="en-US" sz="1750" dirty="0">
                <a:solidFill>
                  <a:srgbClr val="1E3063"/>
                </a:solidFill>
                <a:latin typeface="Instrument Sans Medium" pitchFamily="34" charset="0"/>
                <a:ea typeface="Instrument Sans Medium" pitchFamily="34" charset="-122"/>
                <a:cs typeface="Instrument Sans Medium" pitchFamily="34" charset="-120"/>
              </a:rPr>
              <a:t>Only develop can be merged into main</a:t>
            </a:r>
            <a:endParaRPr lang="en-US" sz="1750" dirty="0"/>
          </a:p>
        </p:txBody>
      </p:sp>
      <p:sp>
        <p:nvSpPr>
          <p:cNvPr id="10" name="Shape 8"/>
          <p:cNvSpPr/>
          <p:nvPr/>
        </p:nvSpPr>
        <p:spPr>
          <a:xfrm>
            <a:off x="9640133" y="2653427"/>
            <a:ext cx="4196358" cy="4085153"/>
          </a:xfrm>
          <a:prstGeom prst="roundRect">
            <a:avLst>
              <a:gd name="adj" fmla="val 4997"/>
            </a:avLst>
          </a:prstGeom>
          <a:solidFill>
            <a:srgbClr val="CEE6FD"/>
          </a:solidFill>
          <a:ln/>
        </p:spPr>
      </p:sp>
      <p:sp>
        <p:nvSpPr>
          <p:cNvPr id="11" name="Text 9"/>
          <p:cNvSpPr/>
          <p:nvPr/>
        </p:nvSpPr>
        <p:spPr>
          <a:xfrm>
            <a:off x="9866948" y="2880241"/>
            <a:ext cx="3175754" cy="354330"/>
          </a:xfrm>
          <a:prstGeom prst="rect">
            <a:avLst/>
          </a:prstGeom>
          <a:noFill/>
          <a:ln/>
        </p:spPr>
        <p:txBody>
          <a:bodyPr wrap="none" lIns="0" tIns="0" rIns="0" bIns="0" rtlCol="0" anchor="t"/>
          <a:lstStyle/>
          <a:p>
            <a:pPr algn="l" indent="0" marL="0">
              <a:lnSpc>
                <a:spcPts val="2750"/>
              </a:lnSpc>
              <a:buNone/>
            </a:pPr>
            <a:r>
              <a:rPr lang="en-US" sz="2200" dirty="0">
                <a:solidFill>
                  <a:srgbClr val="1E3063"/>
                </a:solidFill>
                <a:latin typeface="Instrument Sans Semi Bold" pitchFamily="34" charset="0"/>
                <a:ea typeface="Instrument Sans Semi Bold" pitchFamily="34" charset="-122"/>
                <a:cs typeface="Instrument Sans Semi Bold" pitchFamily="34" charset="-120"/>
              </a:rPr>
              <a:t>Image Tagging Strategy</a:t>
            </a:r>
            <a:endParaRPr lang="en-US" sz="2200" dirty="0"/>
          </a:p>
        </p:txBody>
      </p:sp>
      <p:sp>
        <p:nvSpPr>
          <p:cNvPr id="12" name="Text 10"/>
          <p:cNvSpPr/>
          <p:nvPr/>
        </p:nvSpPr>
        <p:spPr>
          <a:xfrm>
            <a:off x="9866948" y="3370659"/>
            <a:ext cx="3742730" cy="725805"/>
          </a:xfrm>
          <a:prstGeom prst="rect">
            <a:avLst/>
          </a:prstGeom>
          <a:noFill/>
          <a:ln/>
        </p:spPr>
        <p:txBody>
          <a:bodyPr wrap="square" lIns="0" tIns="0" rIns="0" bIns="0" rtlCol="0" anchor="t"/>
          <a:lstStyle/>
          <a:p>
            <a:pPr algn="l" indent="0" marL="0">
              <a:lnSpc>
                <a:spcPts val="2850"/>
              </a:lnSpc>
              <a:buNone/>
            </a:pPr>
            <a:r>
              <a:rPr lang="en-US" sz="1750" b="1" dirty="0">
                <a:solidFill>
                  <a:srgbClr val="1E3063"/>
                </a:solidFill>
                <a:latin typeface="Instrument Sans Medium" pitchFamily="34" charset="0"/>
                <a:ea typeface="Instrument Sans Medium" pitchFamily="34" charset="-122"/>
                <a:cs typeface="Instrument Sans Medium" pitchFamily="34" charset="-120"/>
              </a:rPr>
              <a:t>Dev:</a:t>
            </a:r>
            <a:pPr algn="l" indent="0" marL="0">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 sha-&lt;7char_commit&gt; — immutable per commit</a:t>
            </a:r>
            <a:endParaRPr lang="en-US" sz="1750" dirty="0"/>
          </a:p>
        </p:txBody>
      </p:sp>
      <p:sp>
        <p:nvSpPr>
          <p:cNvPr id="13" name="Text 11"/>
          <p:cNvSpPr/>
          <p:nvPr/>
        </p:nvSpPr>
        <p:spPr>
          <a:xfrm>
            <a:off x="9866948" y="4232553"/>
            <a:ext cx="3742730" cy="725805"/>
          </a:xfrm>
          <a:prstGeom prst="rect">
            <a:avLst/>
          </a:prstGeom>
          <a:noFill/>
          <a:ln/>
        </p:spPr>
        <p:txBody>
          <a:bodyPr wrap="square" lIns="0" tIns="0" rIns="0" bIns="0" rtlCol="0" anchor="t"/>
          <a:lstStyle/>
          <a:p>
            <a:pPr algn="l" indent="0" marL="0">
              <a:lnSpc>
                <a:spcPts val="2850"/>
              </a:lnSpc>
              <a:buNone/>
            </a:pPr>
            <a:r>
              <a:rPr lang="en-US" sz="1750" b="1" dirty="0">
                <a:solidFill>
                  <a:srgbClr val="1E3063"/>
                </a:solidFill>
                <a:latin typeface="Instrument Sans Medium" pitchFamily="34" charset="0"/>
                <a:ea typeface="Instrument Sans Medium" pitchFamily="34" charset="-122"/>
                <a:cs typeface="Instrument Sans Medium" pitchFamily="34" charset="-120"/>
              </a:rPr>
              <a:t>Prod:</a:t>
            </a:r>
            <a:pPr algn="l" indent="0" marL="0">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 v1.X.X — retagged from dev image, no rebuild</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773668"/>
            <a:ext cx="6537841" cy="708779"/>
          </a:xfrm>
          <a:prstGeom prst="rect">
            <a:avLst/>
          </a:prstGeom>
          <a:noFill/>
          <a:ln/>
        </p:spPr>
        <p:txBody>
          <a:bodyPr wrap="none" lIns="0" tIns="0" rIns="0" bIns="0" rtlCol="0" anchor="t"/>
          <a:lstStyle/>
          <a:p>
            <a:pPr algn="l" indent="0" marL="0">
              <a:lnSpc>
                <a:spcPts val="5550"/>
              </a:lnSpc>
              <a:buNone/>
            </a:pPr>
            <a:r>
              <a:rPr lang="en-US" sz="4450" dirty="0">
                <a:solidFill>
                  <a:srgbClr val="091C53"/>
                </a:solidFill>
                <a:latin typeface="Instrument Sans Semi Bold" pitchFamily="34" charset="0"/>
                <a:ea typeface="Instrument Sans Semi Bold" pitchFamily="34" charset="-122"/>
                <a:cs typeface="Instrument Sans Semi Bold" pitchFamily="34" charset="-120"/>
              </a:rPr>
              <a:t>CI/CD Pipeline Overview</a:t>
            </a:r>
            <a:endParaRPr lang="en-US" sz="4450" dirty="0"/>
          </a:p>
        </p:txBody>
      </p:sp>
      <p:sp>
        <p:nvSpPr>
          <p:cNvPr id="3" name="Text 1"/>
          <p:cNvSpPr/>
          <p:nvPr/>
        </p:nvSpPr>
        <p:spPr>
          <a:xfrm>
            <a:off x="793790" y="1936075"/>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Each microservice in the Rentlora platform is equipped with three GitHub Actions workflows that automate the entire build, test, and deployment process from code commit to production.</a:t>
            </a:r>
            <a:endParaRPr lang="en-US" sz="1750" dirty="0"/>
          </a:p>
        </p:txBody>
      </p:sp>
      <p:pic>
        <p:nvPicPr>
          <p:cNvPr id="4" name="Image 0" descr="preencoded.png">    </p:cNvPr>
          <p:cNvPicPr>
            <a:picLocks noChangeAspect="1"/>
          </p:cNvPicPr>
          <p:nvPr/>
        </p:nvPicPr>
        <p:blipFill>
          <a:blip r:embed="rId1"/>
          <a:stretch>
            <a:fillRect/>
          </a:stretch>
        </p:blipFill>
        <p:spPr>
          <a:xfrm>
            <a:off x="793790" y="2917031"/>
            <a:ext cx="4347567" cy="907256"/>
          </a:xfrm>
          <a:prstGeom prst="rect">
            <a:avLst/>
          </a:prstGeom>
        </p:spPr>
      </p:pic>
      <p:sp>
        <p:nvSpPr>
          <p:cNvPr id="5" name="Text 2"/>
          <p:cNvSpPr/>
          <p:nvPr/>
        </p:nvSpPr>
        <p:spPr>
          <a:xfrm>
            <a:off x="1020604" y="4051102"/>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1E3063"/>
                </a:solidFill>
                <a:latin typeface="Instrument Sans Semi Bold" pitchFamily="34" charset="0"/>
                <a:ea typeface="Instrument Sans Semi Bold" pitchFamily="34" charset="-122"/>
                <a:cs typeface="Instrument Sans Semi Bold" pitchFamily="34" charset="-120"/>
              </a:rPr>
              <a:t>ci.yml</a:t>
            </a:r>
            <a:endParaRPr lang="en-US" sz="2200" dirty="0"/>
          </a:p>
        </p:txBody>
      </p:sp>
      <p:sp>
        <p:nvSpPr>
          <p:cNvPr id="6" name="Text 3"/>
          <p:cNvSpPr/>
          <p:nvPr/>
        </p:nvSpPr>
        <p:spPr>
          <a:xfrm>
            <a:off x="1020604" y="4541520"/>
            <a:ext cx="3893939" cy="362903"/>
          </a:xfrm>
          <a:prstGeom prst="rect">
            <a:avLst/>
          </a:prstGeom>
          <a:noFill/>
          <a:ln/>
        </p:spPr>
        <p:txBody>
          <a:bodyPr wrap="none" lIns="0" tIns="0" rIns="0" bIns="0" rtlCol="0" anchor="t"/>
          <a:lstStyle/>
          <a:p>
            <a:pPr algn="l" indent="0" marL="0">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Triggered on every PR and push</a:t>
            </a:r>
            <a:endParaRPr lang="en-US" sz="1750" dirty="0"/>
          </a:p>
        </p:txBody>
      </p:sp>
      <p:sp>
        <p:nvSpPr>
          <p:cNvPr id="7" name="Text 4"/>
          <p:cNvSpPr/>
          <p:nvPr/>
        </p:nvSpPr>
        <p:spPr>
          <a:xfrm>
            <a:off x="1020604" y="5040511"/>
            <a:ext cx="3893939" cy="1689497"/>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1E3063"/>
                </a:solidFill>
                <a:latin typeface="Instrument Sans Medium" pitchFamily="34" charset="0"/>
                <a:ea typeface="Instrument Sans Medium" pitchFamily="34" charset="-122"/>
                <a:cs typeface="Instrument Sans Medium" pitchFamily="34" charset="-120"/>
              </a:rPr>
              <a:t>Compile check</a:t>
            </a:r>
            <a:endParaRPr lang="en-US" sz="1750" dirty="0"/>
          </a:p>
          <a:p>
            <a:pPr algn="l" marL="342900" indent="-342900">
              <a:lnSpc>
                <a:spcPts val="2850"/>
              </a:lnSpc>
              <a:buSzPct val="100000"/>
              <a:buChar char="•"/>
            </a:pPr>
            <a:r>
              <a:rPr lang="en-US" sz="1750" dirty="0">
                <a:solidFill>
                  <a:srgbClr val="1E3063"/>
                </a:solidFill>
                <a:latin typeface="Instrument Sans Medium" pitchFamily="34" charset="0"/>
                <a:ea typeface="Instrument Sans Medium" pitchFamily="34" charset="-122"/>
                <a:cs typeface="Instrument Sans Medium" pitchFamily="34" charset="-120"/>
              </a:rPr>
              <a:t>SonarCloud SAST</a:t>
            </a:r>
            <a:endParaRPr lang="en-US" sz="1750" dirty="0"/>
          </a:p>
          <a:p>
            <a:pPr algn="l" marL="342900" indent="-342900">
              <a:lnSpc>
                <a:spcPts val="2850"/>
              </a:lnSpc>
              <a:buSzPct val="100000"/>
              <a:buChar char="•"/>
            </a:pPr>
            <a:r>
              <a:rPr lang="en-US" sz="1750" dirty="0">
                <a:solidFill>
                  <a:srgbClr val="1E3063"/>
                </a:solidFill>
                <a:latin typeface="Instrument Sans Medium" pitchFamily="34" charset="0"/>
                <a:ea typeface="Instrument Sans Medium" pitchFamily="34" charset="-122"/>
                <a:cs typeface="Instrument Sans Medium" pitchFamily="34" charset="-120"/>
              </a:rPr>
              <a:t>Snyk dependency scan</a:t>
            </a:r>
            <a:endParaRPr lang="en-US" sz="1750" dirty="0"/>
          </a:p>
          <a:p>
            <a:pPr algn="l" marL="342900" indent="-342900">
              <a:lnSpc>
                <a:spcPts val="2850"/>
              </a:lnSpc>
              <a:buSzPct val="100000"/>
              <a:buChar char="•"/>
            </a:pPr>
            <a:r>
              <a:rPr lang="en-US" sz="1750" dirty="0">
                <a:solidFill>
                  <a:srgbClr val="1E3063"/>
                </a:solidFill>
                <a:latin typeface="Instrument Sans Medium" pitchFamily="34" charset="0"/>
                <a:ea typeface="Instrument Sans Medium" pitchFamily="34" charset="-122"/>
                <a:cs typeface="Instrument Sans Medium" pitchFamily="34" charset="-120"/>
              </a:rPr>
              <a:t>Trivy vulnerability scan</a:t>
            </a:r>
            <a:endParaRPr lang="en-US" sz="1750" dirty="0"/>
          </a:p>
        </p:txBody>
      </p:sp>
      <p:sp>
        <p:nvSpPr>
          <p:cNvPr id="8" name="Text 5"/>
          <p:cNvSpPr/>
          <p:nvPr/>
        </p:nvSpPr>
        <p:spPr>
          <a:xfrm>
            <a:off x="1020604" y="6866096"/>
            <a:ext cx="3893939" cy="362903"/>
          </a:xfrm>
          <a:prstGeom prst="rect">
            <a:avLst/>
          </a:prstGeom>
          <a:noFill/>
          <a:ln/>
        </p:spPr>
        <p:txBody>
          <a:bodyPr wrap="none" lIns="0" tIns="0" rIns="0" bIns="0" rtlCol="0" anchor="t"/>
          <a:lstStyle/>
          <a:p>
            <a:pPr algn="l" indent="0" marL="0">
              <a:lnSpc>
                <a:spcPts val="2850"/>
              </a:lnSpc>
              <a:buNone/>
            </a:pPr>
            <a:r>
              <a:rPr lang="en-US" sz="1750" b="1" dirty="0">
                <a:solidFill>
                  <a:srgbClr val="1E3063"/>
                </a:solidFill>
                <a:latin typeface="Instrument Sans Medium" pitchFamily="34" charset="0"/>
                <a:ea typeface="Instrument Sans Medium" pitchFamily="34" charset="-122"/>
                <a:cs typeface="Instrument Sans Medium" pitchFamily="34" charset="-120"/>
              </a:rPr>
              <a:t>Hard fail on CRITICAL vulnerabilities</a:t>
            </a:r>
            <a:endParaRPr lang="en-US" sz="1750" dirty="0"/>
          </a:p>
        </p:txBody>
      </p:sp>
      <p:pic>
        <p:nvPicPr>
          <p:cNvPr id="9" name="Image 1" descr="preencoded.png">    </p:cNvPr>
          <p:cNvPicPr>
            <a:picLocks noChangeAspect="1"/>
          </p:cNvPicPr>
          <p:nvPr/>
        </p:nvPicPr>
        <p:blipFill>
          <a:blip r:embed="rId2"/>
          <a:stretch>
            <a:fillRect/>
          </a:stretch>
        </p:blipFill>
        <p:spPr>
          <a:xfrm>
            <a:off x="5141357" y="2917031"/>
            <a:ext cx="4347567" cy="907256"/>
          </a:xfrm>
          <a:prstGeom prst="rect">
            <a:avLst/>
          </a:prstGeom>
        </p:spPr>
      </p:pic>
      <p:sp>
        <p:nvSpPr>
          <p:cNvPr id="10" name="Text 6"/>
          <p:cNvSpPr/>
          <p:nvPr/>
        </p:nvSpPr>
        <p:spPr>
          <a:xfrm>
            <a:off x="5368171" y="4051102"/>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1E3063"/>
                </a:solidFill>
                <a:latin typeface="Instrument Sans Semi Bold" pitchFamily="34" charset="0"/>
                <a:ea typeface="Instrument Sans Semi Bold" pitchFamily="34" charset="-122"/>
                <a:cs typeface="Instrument Sans Semi Bold" pitchFamily="34" charset="-120"/>
              </a:rPr>
              <a:t>deploy-dev.yml</a:t>
            </a:r>
            <a:endParaRPr lang="en-US" sz="2200" dirty="0"/>
          </a:p>
        </p:txBody>
      </p:sp>
      <p:sp>
        <p:nvSpPr>
          <p:cNvPr id="11" name="Text 7"/>
          <p:cNvSpPr/>
          <p:nvPr/>
        </p:nvSpPr>
        <p:spPr>
          <a:xfrm>
            <a:off x="5368171" y="4541520"/>
            <a:ext cx="3893939" cy="362903"/>
          </a:xfrm>
          <a:prstGeom prst="rect">
            <a:avLst/>
          </a:prstGeom>
          <a:noFill/>
          <a:ln/>
        </p:spPr>
        <p:txBody>
          <a:bodyPr wrap="none" lIns="0" tIns="0" rIns="0" bIns="0" rtlCol="0" anchor="t"/>
          <a:lstStyle/>
          <a:p>
            <a:pPr algn="l" indent="0" marL="0">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Triggered on push to develop</a:t>
            </a:r>
            <a:endParaRPr lang="en-US" sz="1750" dirty="0"/>
          </a:p>
        </p:txBody>
      </p:sp>
      <p:sp>
        <p:nvSpPr>
          <p:cNvPr id="12" name="Text 8"/>
          <p:cNvSpPr/>
          <p:nvPr/>
        </p:nvSpPr>
        <p:spPr>
          <a:xfrm>
            <a:off x="5368171" y="5040511"/>
            <a:ext cx="3893939" cy="1610201"/>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1E3063"/>
                </a:solidFill>
                <a:latin typeface="Instrument Sans Medium" pitchFamily="34" charset="0"/>
                <a:ea typeface="Instrument Sans Medium" pitchFamily="34" charset="-122"/>
                <a:cs typeface="Instrument Sans Medium" pitchFamily="34" charset="-120"/>
              </a:rPr>
              <a:t>Build image → scan → push to GHCR</a:t>
            </a:r>
            <a:endParaRPr lang="en-US" sz="1750" dirty="0"/>
          </a:p>
          <a:p>
            <a:pPr algn="l" marL="342900" indent="-342900">
              <a:lnSpc>
                <a:spcPts val="2850"/>
              </a:lnSpc>
              <a:buSzPct val="100000"/>
              <a:buChar char="•"/>
            </a:pPr>
            <a:r>
              <a:rPr lang="en-US" sz="1750" dirty="0">
                <a:solidFill>
                  <a:srgbClr val="1E3063"/>
                </a:solidFill>
                <a:latin typeface="Instrument Sans Medium" pitchFamily="34" charset="0"/>
                <a:ea typeface="Instrument Sans Medium" pitchFamily="34" charset="-122"/>
                <a:cs typeface="Instrument Sans Medium" pitchFamily="34" charset="-120"/>
              </a:rPr>
              <a:t>Update Helm repo</a:t>
            </a:r>
            <a:endParaRPr lang="en-US" sz="1750" dirty="0"/>
          </a:p>
          <a:p>
            <a:pPr algn="l" marL="342900" indent="-342900">
              <a:lnSpc>
                <a:spcPts val="2850"/>
              </a:lnSpc>
              <a:buSzPct val="100000"/>
              <a:buChar char="•"/>
            </a:pPr>
            <a:r>
              <a:rPr lang="en-US" sz="1750" dirty="0">
                <a:solidFill>
                  <a:srgbClr val="1E3063"/>
                </a:solidFill>
                <a:latin typeface="Instrument Sans Medium" pitchFamily="34" charset="0"/>
                <a:ea typeface="Instrument Sans Medium" pitchFamily="34" charset="-122"/>
                <a:cs typeface="Instrument Sans Medium" pitchFamily="34" charset="-120"/>
              </a:rPr>
              <a:t>ArgoCD syncs to rentlora-dev</a:t>
            </a:r>
            <a:endParaRPr lang="en-US" sz="1750" dirty="0"/>
          </a:p>
        </p:txBody>
      </p:sp>
      <p:pic>
        <p:nvPicPr>
          <p:cNvPr id="13" name="Image 2" descr="preencoded.png">    </p:cNvPr>
          <p:cNvPicPr>
            <a:picLocks noChangeAspect="1"/>
          </p:cNvPicPr>
          <p:nvPr/>
        </p:nvPicPr>
        <p:blipFill>
          <a:blip r:embed="rId3"/>
          <a:stretch>
            <a:fillRect/>
          </a:stretch>
        </p:blipFill>
        <p:spPr>
          <a:xfrm>
            <a:off x="9488924" y="2917031"/>
            <a:ext cx="4347567" cy="907256"/>
          </a:xfrm>
          <a:prstGeom prst="rect">
            <a:avLst/>
          </a:prstGeom>
        </p:spPr>
      </p:pic>
      <p:sp>
        <p:nvSpPr>
          <p:cNvPr id="14" name="Text 9"/>
          <p:cNvSpPr/>
          <p:nvPr/>
        </p:nvSpPr>
        <p:spPr>
          <a:xfrm>
            <a:off x="9715738" y="4051102"/>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1E3063"/>
                </a:solidFill>
                <a:latin typeface="Instrument Sans Semi Bold" pitchFamily="34" charset="0"/>
                <a:ea typeface="Instrument Sans Semi Bold" pitchFamily="34" charset="-122"/>
                <a:cs typeface="Instrument Sans Semi Bold" pitchFamily="34" charset="-120"/>
              </a:rPr>
              <a:t>release-prod.yml</a:t>
            </a:r>
            <a:endParaRPr lang="en-US" sz="2200" dirty="0"/>
          </a:p>
        </p:txBody>
      </p:sp>
      <p:sp>
        <p:nvSpPr>
          <p:cNvPr id="15" name="Text 10"/>
          <p:cNvSpPr/>
          <p:nvPr/>
        </p:nvSpPr>
        <p:spPr>
          <a:xfrm>
            <a:off x="9715738" y="4541520"/>
            <a:ext cx="3893939" cy="362903"/>
          </a:xfrm>
          <a:prstGeom prst="rect">
            <a:avLst/>
          </a:prstGeom>
          <a:noFill/>
          <a:ln/>
        </p:spPr>
        <p:txBody>
          <a:bodyPr wrap="none" lIns="0" tIns="0" rIns="0" bIns="0" rtlCol="0" anchor="t"/>
          <a:lstStyle/>
          <a:p>
            <a:pPr algn="l" indent="0" marL="0">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Triggered on GitHub Release</a:t>
            </a:r>
            <a:endParaRPr lang="en-US" sz="1750" dirty="0"/>
          </a:p>
        </p:txBody>
      </p:sp>
      <p:sp>
        <p:nvSpPr>
          <p:cNvPr id="16" name="Text 11"/>
          <p:cNvSpPr/>
          <p:nvPr/>
        </p:nvSpPr>
        <p:spPr>
          <a:xfrm>
            <a:off x="9715738" y="5040511"/>
            <a:ext cx="3893939" cy="1689497"/>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1E3063"/>
                </a:solidFill>
                <a:latin typeface="Instrument Sans Medium" pitchFamily="34" charset="0"/>
                <a:ea typeface="Instrument Sans Medium" pitchFamily="34" charset="-122"/>
                <a:cs typeface="Instrument Sans Medium" pitchFamily="34" charset="-120"/>
              </a:rPr>
              <a:t>Manual approval gate</a:t>
            </a:r>
            <a:endParaRPr lang="en-US" sz="1750" dirty="0"/>
          </a:p>
          <a:p>
            <a:pPr algn="l" marL="342900" indent="-342900">
              <a:lnSpc>
                <a:spcPts val="2850"/>
              </a:lnSpc>
              <a:buSzPct val="100000"/>
              <a:buChar char="•"/>
            </a:pPr>
            <a:r>
              <a:rPr lang="en-US" sz="1750" dirty="0">
                <a:solidFill>
                  <a:srgbClr val="1E3063"/>
                </a:solidFill>
                <a:latin typeface="Instrument Sans Medium" pitchFamily="34" charset="0"/>
                <a:ea typeface="Instrument Sans Medium" pitchFamily="34" charset="-122"/>
                <a:cs typeface="Instrument Sans Medium" pitchFamily="34" charset="-120"/>
              </a:rPr>
              <a:t>Retag dev image to vX.X.X</a:t>
            </a:r>
            <a:endParaRPr lang="en-US" sz="1750" dirty="0"/>
          </a:p>
          <a:p>
            <a:pPr algn="l" marL="342900" indent="-342900">
              <a:lnSpc>
                <a:spcPts val="2850"/>
              </a:lnSpc>
              <a:buSzPct val="100000"/>
              <a:buChar char="•"/>
            </a:pPr>
            <a:r>
              <a:rPr lang="en-US" sz="1750" dirty="0">
                <a:solidFill>
                  <a:srgbClr val="1E3063"/>
                </a:solidFill>
                <a:latin typeface="Instrument Sans Medium" pitchFamily="34" charset="0"/>
                <a:ea typeface="Instrument Sans Medium" pitchFamily="34" charset="-122"/>
                <a:cs typeface="Instrument Sans Medium" pitchFamily="34" charset="-120"/>
              </a:rPr>
              <a:t>Update Helm repo</a:t>
            </a:r>
            <a:endParaRPr lang="en-US" sz="1750" dirty="0"/>
          </a:p>
          <a:p>
            <a:pPr algn="l" marL="342900" indent="-342900">
              <a:lnSpc>
                <a:spcPts val="2850"/>
              </a:lnSpc>
              <a:buSzPct val="100000"/>
              <a:buChar char="•"/>
            </a:pPr>
            <a:r>
              <a:rPr lang="en-US" sz="1750" dirty="0">
                <a:solidFill>
                  <a:srgbClr val="1E3063"/>
                </a:solidFill>
                <a:latin typeface="Instrument Sans Medium" pitchFamily="34" charset="0"/>
                <a:ea typeface="Instrument Sans Medium" pitchFamily="34" charset="-122"/>
                <a:cs typeface="Instrument Sans Medium" pitchFamily="34" charset="-120"/>
              </a:rPr>
              <a:t>ArgoCD syncs to rentlora-prod</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2561153"/>
            <a:ext cx="7422833" cy="708779"/>
          </a:xfrm>
          <a:prstGeom prst="rect">
            <a:avLst/>
          </a:prstGeom>
          <a:noFill/>
          <a:ln/>
        </p:spPr>
        <p:txBody>
          <a:bodyPr wrap="none" lIns="0" tIns="0" rIns="0" bIns="0" rtlCol="0" anchor="t"/>
          <a:lstStyle/>
          <a:p>
            <a:pPr algn="l" indent="0" marL="0">
              <a:lnSpc>
                <a:spcPts val="5550"/>
              </a:lnSpc>
              <a:buNone/>
            </a:pPr>
            <a:r>
              <a:rPr lang="en-US" sz="4450" dirty="0">
                <a:solidFill>
                  <a:srgbClr val="091C53"/>
                </a:solidFill>
                <a:latin typeface="Instrument Sans Semi Bold" pitchFamily="34" charset="0"/>
                <a:ea typeface="Instrument Sans Semi Bold" pitchFamily="34" charset="-122"/>
                <a:cs typeface="Instrument Sans Semi Bold" pitchFamily="34" charset="-120"/>
              </a:rPr>
              <a:t>CI/CD Pipeline Architecture</a:t>
            </a:r>
            <a:endParaRPr lang="en-US" sz="4450" dirty="0"/>
          </a:p>
        </p:txBody>
      </p:sp>
      <p:sp>
        <p:nvSpPr>
          <p:cNvPr id="3" name="Shape 1"/>
          <p:cNvSpPr/>
          <p:nvPr/>
        </p:nvSpPr>
        <p:spPr>
          <a:xfrm>
            <a:off x="793790" y="3723561"/>
            <a:ext cx="13042821" cy="963811"/>
          </a:xfrm>
          <a:prstGeom prst="roundRect">
            <a:avLst>
              <a:gd name="adj" fmla="val 21181"/>
            </a:avLst>
          </a:prstGeom>
          <a:solidFill>
            <a:srgbClr val="B5DAFC"/>
          </a:solidFill>
          <a:ln/>
        </p:spPr>
      </p:sp>
      <p:pic>
        <p:nvPicPr>
          <p:cNvPr id="4" name="Image 0" descr="preencoded.png">    </p:cNvPr>
          <p:cNvPicPr>
            <a:picLocks noChangeAspect="1"/>
          </p:cNvPicPr>
          <p:nvPr/>
        </p:nvPicPr>
        <p:blipFill>
          <a:blip r:embed="rId1"/>
          <a:stretch>
            <a:fillRect/>
          </a:stretch>
        </p:blipFill>
        <p:spPr>
          <a:xfrm>
            <a:off x="1020604" y="4067651"/>
            <a:ext cx="283488" cy="226814"/>
          </a:xfrm>
          <a:prstGeom prst="rect">
            <a:avLst/>
          </a:prstGeom>
        </p:spPr>
      </p:pic>
      <p:sp>
        <p:nvSpPr>
          <p:cNvPr id="5" name="Text 2"/>
          <p:cNvSpPr/>
          <p:nvPr/>
        </p:nvSpPr>
        <p:spPr>
          <a:xfrm>
            <a:off x="1530906" y="4007048"/>
            <a:ext cx="12078891" cy="362903"/>
          </a:xfrm>
          <a:prstGeom prst="rect">
            <a:avLst/>
          </a:prstGeom>
          <a:noFill/>
          <a:ln/>
        </p:spPr>
        <p:txBody>
          <a:bodyPr wrap="none" lIns="0" tIns="0" rIns="0" bIns="0" rtlCol="0" anchor="t"/>
          <a:lstStyle/>
          <a:p>
            <a:pPr algn="l" indent="0" marL="0">
              <a:lnSpc>
                <a:spcPts val="2850"/>
              </a:lnSpc>
              <a:buNone/>
            </a:pPr>
            <a:r>
              <a:rPr lang="en-US" sz="1750" b="1" dirty="0">
                <a:solidFill>
                  <a:srgbClr val="000000"/>
                </a:solidFill>
                <a:latin typeface="Instrument Sans Medium" pitchFamily="34" charset="0"/>
                <a:ea typeface="Instrument Sans Medium" pitchFamily="34" charset="-122"/>
                <a:cs typeface="Instrument Sans Medium" pitchFamily="34" charset="-120"/>
              </a:rPr>
              <a:t>Placeholder:</a:t>
            </a:r>
            <a:pPr algn="l" indent="0" marL="0">
              <a:lnSpc>
                <a:spcPts val="2850"/>
              </a:lnSpc>
              <a:buNone/>
            </a:pPr>
            <a:r>
              <a:rPr lang="en-US" sz="1750" dirty="0">
                <a:solidFill>
                  <a:srgbClr val="000000"/>
                </a:solidFill>
                <a:latin typeface="Instrument Sans Medium" pitchFamily="34" charset="0"/>
                <a:ea typeface="Instrument Sans Medium" pitchFamily="34" charset="-122"/>
                <a:cs typeface="Instrument Sans Medium" pitchFamily="34" charset="-120"/>
              </a:rPr>
              <a:t> CI/CD Pipeline Diagram — To Be Added</a:t>
            </a:r>
            <a:endParaRPr lang="en-US" sz="1750" dirty="0"/>
          </a:p>
        </p:txBody>
      </p:sp>
      <p:sp>
        <p:nvSpPr>
          <p:cNvPr id="6" name="Text 3"/>
          <p:cNvSpPr/>
          <p:nvPr/>
        </p:nvSpPr>
        <p:spPr>
          <a:xfrm>
            <a:off x="793790" y="4942523"/>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Architecture diagram will be inserted here to visualize the complete pipeline flow from code commit through build, testing, and deployment stages.</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2561153"/>
            <a:ext cx="6549747" cy="708779"/>
          </a:xfrm>
          <a:prstGeom prst="rect">
            <a:avLst/>
          </a:prstGeom>
          <a:noFill/>
          <a:ln/>
        </p:spPr>
        <p:txBody>
          <a:bodyPr wrap="none" lIns="0" tIns="0" rIns="0" bIns="0" rtlCol="0" anchor="t"/>
          <a:lstStyle/>
          <a:p>
            <a:pPr algn="l" indent="0" marL="0">
              <a:lnSpc>
                <a:spcPts val="5550"/>
              </a:lnSpc>
              <a:buNone/>
            </a:pPr>
            <a:r>
              <a:rPr lang="en-US" sz="4450" dirty="0">
                <a:solidFill>
                  <a:srgbClr val="091C53"/>
                </a:solidFill>
                <a:latin typeface="Instrument Sans Semi Bold" pitchFamily="34" charset="0"/>
                <a:ea typeface="Instrument Sans Semi Bold" pitchFamily="34" charset="-122"/>
                <a:cs typeface="Instrument Sans Semi Bold" pitchFamily="34" charset="-120"/>
              </a:rPr>
              <a:t>GitHub Actions in Action</a:t>
            </a:r>
            <a:endParaRPr lang="en-US" sz="4450" dirty="0"/>
          </a:p>
        </p:txBody>
      </p:sp>
      <p:sp>
        <p:nvSpPr>
          <p:cNvPr id="3" name="Shape 1"/>
          <p:cNvSpPr/>
          <p:nvPr/>
        </p:nvSpPr>
        <p:spPr>
          <a:xfrm>
            <a:off x="793790" y="3723561"/>
            <a:ext cx="13042821" cy="963811"/>
          </a:xfrm>
          <a:prstGeom prst="roundRect">
            <a:avLst>
              <a:gd name="adj" fmla="val 21181"/>
            </a:avLst>
          </a:prstGeom>
          <a:solidFill>
            <a:srgbClr val="B5DAFC"/>
          </a:solidFill>
          <a:ln/>
        </p:spPr>
      </p:sp>
      <p:pic>
        <p:nvPicPr>
          <p:cNvPr id="4" name="Image 0" descr="preencoded.png">    </p:cNvPr>
          <p:cNvPicPr>
            <a:picLocks noChangeAspect="1"/>
          </p:cNvPicPr>
          <p:nvPr/>
        </p:nvPicPr>
        <p:blipFill>
          <a:blip r:embed="rId1"/>
          <a:stretch>
            <a:fillRect/>
          </a:stretch>
        </p:blipFill>
        <p:spPr>
          <a:xfrm>
            <a:off x="1020604" y="4067651"/>
            <a:ext cx="283488" cy="226814"/>
          </a:xfrm>
          <a:prstGeom prst="rect">
            <a:avLst/>
          </a:prstGeom>
        </p:spPr>
      </p:pic>
      <p:sp>
        <p:nvSpPr>
          <p:cNvPr id="5" name="Text 2"/>
          <p:cNvSpPr/>
          <p:nvPr/>
        </p:nvSpPr>
        <p:spPr>
          <a:xfrm>
            <a:off x="1530906" y="4007048"/>
            <a:ext cx="12078891" cy="362903"/>
          </a:xfrm>
          <a:prstGeom prst="rect">
            <a:avLst/>
          </a:prstGeom>
          <a:noFill/>
          <a:ln/>
        </p:spPr>
        <p:txBody>
          <a:bodyPr wrap="none" lIns="0" tIns="0" rIns="0" bIns="0" rtlCol="0" anchor="t"/>
          <a:lstStyle/>
          <a:p>
            <a:pPr algn="l" indent="0" marL="0">
              <a:lnSpc>
                <a:spcPts val="2850"/>
              </a:lnSpc>
              <a:buNone/>
            </a:pPr>
            <a:r>
              <a:rPr lang="en-US" sz="1750" b="1" dirty="0">
                <a:solidFill>
                  <a:srgbClr val="000000"/>
                </a:solidFill>
                <a:latin typeface="Instrument Sans Medium" pitchFamily="34" charset="0"/>
                <a:ea typeface="Instrument Sans Medium" pitchFamily="34" charset="-122"/>
                <a:cs typeface="Instrument Sans Medium" pitchFamily="34" charset="-120"/>
              </a:rPr>
              <a:t>Placeholder:</a:t>
            </a:r>
            <a:pPr algn="l" indent="0" marL="0">
              <a:lnSpc>
                <a:spcPts val="2850"/>
              </a:lnSpc>
              <a:buNone/>
            </a:pPr>
            <a:r>
              <a:rPr lang="en-US" sz="1750" dirty="0">
                <a:solidFill>
                  <a:srgbClr val="000000"/>
                </a:solidFill>
                <a:latin typeface="Instrument Sans Medium" pitchFamily="34" charset="0"/>
                <a:ea typeface="Instrument Sans Medium" pitchFamily="34" charset="-122"/>
                <a:cs typeface="Instrument Sans Medium" pitchFamily="34" charset="-120"/>
              </a:rPr>
              <a:t> GitHub Actions Screenshots — To Be Added</a:t>
            </a:r>
            <a:endParaRPr lang="en-US" sz="1750" dirty="0"/>
          </a:p>
        </p:txBody>
      </p:sp>
      <p:sp>
        <p:nvSpPr>
          <p:cNvPr id="6" name="Text 3"/>
          <p:cNvSpPr/>
          <p:nvPr/>
        </p:nvSpPr>
        <p:spPr>
          <a:xfrm>
            <a:off x="793790" y="4942523"/>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Real-time screenshots of the GitHub Actions interface showing running workflows, job logs, and pipeline status will be included here to demonstrate the actual CI/CD execution.</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725216"/>
            <a:ext cx="9973747" cy="708779"/>
          </a:xfrm>
          <a:prstGeom prst="rect">
            <a:avLst/>
          </a:prstGeom>
          <a:noFill/>
          <a:ln/>
        </p:spPr>
        <p:txBody>
          <a:bodyPr wrap="none" lIns="0" tIns="0" rIns="0" bIns="0" rtlCol="0" anchor="t"/>
          <a:lstStyle/>
          <a:p>
            <a:pPr algn="l" indent="0" marL="0">
              <a:lnSpc>
                <a:spcPts val="5550"/>
              </a:lnSpc>
              <a:buNone/>
            </a:pPr>
            <a:r>
              <a:rPr lang="en-US" sz="4450" dirty="0">
                <a:solidFill>
                  <a:srgbClr val="091C53"/>
                </a:solidFill>
                <a:latin typeface="Instrument Sans Semi Bold" pitchFamily="34" charset="0"/>
                <a:ea typeface="Instrument Sans Semi Bold" pitchFamily="34" charset="-122"/>
                <a:cs typeface="Instrument Sans Semi Bold" pitchFamily="34" charset="-120"/>
              </a:rPr>
              <a:t>ArgoCD — GitOps with Apps-of-Apps</a:t>
            </a:r>
            <a:endParaRPr lang="en-US" sz="4450" dirty="0"/>
          </a:p>
        </p:txBody>
      </p:sp>
      <p:sp>
        <p:nvSpPr>
          <p:cNvPr id="3" name="Text 1"/>
          <p:cNvSpPr/>
          <p:nvPr/>
        </p:nvSpPr>
        <p:spPr>
          <a:xfrm>
            <a:off x="793790" y="2774156"/>
            <a:ext cx="453628" cy="283488"/>
          </a:xfrm>
          <a:prstGeom prst="rect">
            <a:avLst/>
          </a:prstGeom>
          <a:noFill/>
          <a:ln/>
        </p:spPr>
        <p:txBody>
          <a:bodyPr wrap="none" lIns="0" tIns="0" rIns="0" bIns="0" rtlCol="0" anchor="t"/>
          <a:lstStyle/>
          <a:p>
            <a:pPr algn="l" indent="0" marL="0">
              <a:lnSpc>
                <a:spcPts val="2850"/>
              </a:lnSpc>
              <a:buNone/>
            </a:pPr>
            <a:r>
              <a:rPr lang="en-US" sz="1750" dirty="0">
                <a:solidFill>
                  <a:srgbClr val="1E3063"/>
                </a:solidFill>
                <a:latin typeface="Instrument Sans Light" pitchFamily="34" charset="0"/>
                <a:ea typeface="Instrument Sans Light" pitchFamily="34" charset="-122"/>
                <a:cs typeface="Instrument Sans Light" pitchFamily="34" charset="-120"/>
              </a:rPr>
              <a:t>01</a:t>
            </a:r>
            <a:endParaRPr lang="en-US" sz="1750" dirty="0"/>
          </a:p>
        </p:txBody>
      </p:sp>
      <p:sp>
        <p:nvSpPr>
          <p:cNvPr id="4" name="Shape 2"/>
          <p:cNvSpPr/>
          <p:nvPr/>
        </p:nvSpPr>
        <p:spPr>
          <a:xfrm>
            <a:off x="793790" y="3129201"/>
            <a:ext cx="4196358" cy="30480"/>
          </a:xfrm>
          <a:prstGeom prst="rect">
            <a:avLst/>
          </a:prstGeom>
          <a:solidFill>
            <a:srgbClr val="84C1FA"/>
          </a:solidFill>
          <a:ln/>
        </p:spPr>
      </p:sp>
      <p:sp>
        <p:nvSpPr>
          <p:cNvPr id="5" name="Text 3"/>
          <p:cNvSpPr/>
          <p:nvPr/>
        </p:nvSpPr>
        <p:spPr>
          <a:xfrm>
            <a:off x="793790" y="3303508"/>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1E3063"/>
                </a:solidFill>
                <a:latin typeface="Instrument Sans Semi Bold" pitchFamily="34" charset="0"/>
                <a:ea typeface="Instrument Sans Semi Bold" pitchFamily="34" charset="-122"/>
                <a:cs typeface="Instrument Sans Semi Bold" pitchFamily="34" charset="-120"/>
              </a:rPr>
              <a:t>What is ArgoCD?</a:t>
            </a:r>
            <a:endParaRPr lang="en-US" sz="2200" dirty="0"/>
          </a:p>
        </p:txBody>
      </p:sp>
      <p:sp>
        <p:nvSpPr>
          <p:cNvPr id="6" name="Text 4"/>
          <p:cNvSpPr/>
          <p:nvPr/>
        </p:nvSpPr>
        <p:spPr>
          <a:xfrm>
            <a:off x="793790" y="3793927"/>
            <a:ext cx="4196358" cy="2177415"/>
          </a:xfrm>
          <a:prstGeom prst="rect">
            <a:avLst/>
          </a:prstGeom>
          <a:noFill/>
          <a:ln/>
        </p:spPr>
        <p:txBody>
          <a:bodyPr wrap="square" lIns="0" tIns="0" rIns="0" bIns="0" rtlCol="0" anchor="t"/>
          <a:lstStyle/>
          <a:p>
            <a:pPr algn="l" indent="0" marL="0">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ArgoCD is a declarative GitOps continuous delivery tool for Kubernetes. It continuously watches a Git repository and automatically reconciles the cluster state to match what is defined in the repository.</a:t>
            </a:r>
            <a:endParaRPr lang="en-US" sz="1750" dirty="0"/>
          </a:p>
        </p:txBody>
      </p:sp>
      <p:sp>
        <p:nvSpPr>
          <p:cNvPr id="7" name="Text 5"/>
          <p:cNvSpPr/>
          <p:nvPr/>
        </p:nvSpPr>
        <p:spPr>
          <a:xfrm>
            <a:off x="5216962" y="2774156"/>
            <a:ext cx="453628" cy="283488"/>
          </a:xfrm>
          <a:prstGeom prst="rect">
            <a:avLst/>
          </a:prstGeom>
          <a:noFill/>
          <a:ln/>
        </p:spPr>
        <p:txBody>
          <a:bodyPr wrap="none" lIns="0" tIns="0" rIns="0" bIns="0" rtlCol="0" anchor="t"/>
          <a:lstStyle/>
          <a:p>
            <a:pPr algn="l" indent="0" marL="0">
              <a:lnSpc>
                <a:spcPts val="2850"/>
              </a:lnSpc>
              <a:buNone/>
            </a:pPr>
            <a:r>
              <a:rPr lang="en-US" sz="1750" dirty="0">
                <a:solidFill>
                  <a:srgbClr val="1E3063"/>
                </a:solidFill>
                <a:latin typeface="Instrument Sans Light" pitchFamily="34" charset="0"/>
                <a:ea typeface="Instrument Sans Light" pitchFamily="34" charset="-122"/>
                <a:cs typeface="Instrument Sans Light" pitchFamily="34" charset="-120"/>
              </a:rPr>
              <a:t>02</a:t>
            </a:r>
            <a:endParaRPr lang="en-US" sz="1750" dirty="0"/>
          </a:p>
        </p:txBody>
      </p:sp>
      <p:sp>
        <p:nvSpPr>
          <p:cNvPr id="8" name="Shape 6"/>
          <p:cNvSpPr/>
          <p:nvPr/>
        </p:nvSpPr>
        <p:spPr>
          <a:xfrm>
            <a:off x="5216962" y="3129201"/>
            <a:ext cx="4196358" cy="30480"/>
          </a:xfrm>
          <a:prstGeom prst="rect">
            <a:avLst/>
          </a:prstGeom>
          <a:solidFill>
            <a:srgbClr val="84C1FA"/>
          </a:solidFill>
          <a:ln/>
        </p:spPr>
      </p:sp>
      <p:sp>
        <p:nvSpPr>
          <p:cNvPr id="9" name="Text 7"/>
          <p:cNvSpPr/>
          <p:nvPr/>
        </p:nvSpPr>
        <p:spPr>
          <a:xfrm>
            <a:off x="5216962" y="3303508"/>
            <a:ext cx="2957274" cy="354330"/>
          </a:xfrm>
          <a:prstGeom prst="rect">
            <a:avLst/>
          </a:prstGeom>
          <a:noFill/>
          <a:ln/>
        </p:spPr>
        <p:txBody>
          <a:bodyPr wrap="none" lIns="0" tIns="0" rIns="0" bIns="0" rtlCol="0" anchor="t"/>
          <a:lstStyle/>
          <a:p>
            <a:pPr algn="l" indent="0" marL="0">
              <a:lnSpc>
                <a:spcPts val="2750"/>
              </a:lnSpc>
              <a:buNone/>
            </a:pPr>
            <a:r>
              <a:rPr lang="en-US" sz="2200" dirty="0">
                <a:solidFill>
                  <a:srgbClr val="1E3063"/>
                </a:solidFill>
                <a:latin typeface="Instrument Sans Semi Bold" pitchFamily="34" charset="0"/>
                <a:ea typeface="Instrument Sans Semi Bold" pitchFamily="34" charset="-122"/>
                <a:cs typeface="Instrument Sans Semi Bold" pitchFamily="34" charset="-120"/>
              </a:rPr>
              <a:t>Apps-of-Apps Pattern</a:t>
            </a:r>
            <a:endParaRPr lang="en-US" sz="2200" dirty="0"/>
          </a:p>
        </p:txBody>
      </p:sp>
      <p:sp>
        <p:nvSpPr>
          <p:cNvPr id="10" name="Text 8"/>
          <p:cNvSpPr/>
          <p:nvPr/>
        </p:nvSpPr>
        <p:spPr>
          <a:xfrm>
            <a:off x="5216962" y="3793927"/>
            <a:ext cx="4196358" cy="2540318"/>
          </a:xfrm>
          <a:prstGeom prst="rect">
            <a:avLst/>
          </a:prstGeom>
          <a:noFill/>
          <a:ln/>
        </p:spPr>
        <p:txBody>
          <a:bodyPr wrap="square" lIns="0" tIns="0" rIns="0" bIns="0" rtlCol="0" anchor="t"/>
          <a:lstStyle/>
          <a:p>
            <a:pPr algn="l" indent="0" marL="0">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A single Root Application watches a folder in Git. Each YAML file in that folder represents an ArgoCD Application. This pattern enables automatic discovery and management of all workloads without manual configuration.</a:t>
            </a:r>
            <a:endParaRPr lang="en-US" sz="1750" dirty="0"/>
          </a:p>
        </p:txBody>
      </p:sp>
      <p:sp>
        <p:nvSpPr>
          <p:cNvPr id="11" name="Text 9"/>
          <p:cNvSpPr/>
          <p:nvPr/>
        </p:nvSpPr>
        <p:spPr>
          <a:xfrm>
            <a:off x="9640133" y="2774156"/>
            <a:ext cx="453628" cy="283488"/>
          </a:xfrm>
          <a:prstGeom prst="rect">
            <a:avLst/>
          </a:prstGeom>
          <a:noFill/>
          <a:ln/>
        </p:spPr>
        <p:txBody>
          <a:bodyPr wrap="none" lIns="0" tIns="0" rIns="0" bIns="0" rtlCol="0" anchor="t"/>
          <a:lstStyle/>
          <a:p>
            <a:pPr algn="l" indent="0" marL="0">
              <a:lnSpc>
                <a:spcPts val="2850"/>
              </a:lnSpc>
              <a:buNone/>
            </a:pPr>
            <a:r>
              <a:rPr lang="en-US" sz="1750" dirty="0">
                <a:solidFill>
                  <a:srgbClr val="1E3063"/>
                </a:solidFill>
                <a:latin typeface="Instrument Sans Light" pitchFamily="34" charset="0"/>
                <a:ea typeface="Instrument Sans Light" pitchFamily="34" charset="-122"/>
                <a:cs typeface="Instrument Sans Light" pitchFamily="34" charset="-120"/>
              </a:rPr>
              <a:t>03</a:t>
            </a:r>
            <a:endParaRPr lang="en-US" sz="1750" dirty="0"/>
          </a:p>
        </p:txBody>
      </p:sp>
      <p:sp>
        <p:nvSpPr>
          <p:cNvPr id="12" name="Shape 10"/>
          <p:cNvSpPr/>
          <p:nvPr/>
        </p:nvSpPr>
        <p:spPr>
          <a:xfrm>
            <a:off x="9640133" y="3129201"/>
            <a:ext cx="4196358" cy="30480"/>
          </a:xfrm>
          <a:prstGeom prst="rect">
            <a:avLst/>
          </a:prstGeom>
          <a:solidFill>
            <a:srgbClr val="84C1FA"/>
          </a:solidFill>
          <a:ln/>
        </p:spPr>
      </p:sp>
      <p:sp>
        <p:nvSpPr>
          <p:cNvPr id="13" name="Text 11"/>
          <p:cNvSpPr/>
          <p:nvPr/>
        </p:nvSpPr>
        <p:spPr>
          <a:xfrm>
            <a:off x="9640133" y="3303508"/>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1E3063"/>
                </a:solidFill>
                <a:latin typeface="Instrument Sans Semi Bold" pitchFamily="34" charset="0"/>
                <a:ea typeface="Instrument Sans Semi Bold" pitchFamily="34" charset="-122"/>
                <a:cs typeface="Instrument Sans Semi Bold" pitchFamily="34" charset="-120"/>
              </a:rPr>
              <a:t>End-to-End Flow</a:t>
            </a:r>
            <a:endParaRPr lang="en-US" sz="2200" dirty="0"/>
          </a:p>
        </p:txBody>
      </p:sp>
      <p:sp>
        <p:nvSpPr>
          <p:cNvPr id="14" name="Text 12"/>
          <p:cNvSpPr/>
          <p:nvPr/>
        </p:nvSpPr>
        <p:spPr>
          <a:xfrm>
            <a:off x="9640133" y="3793927"/>
            <a:ext cx="4196358" cy="1451610"/>
          </a:xfrm>
          <a:prstGeom prst="rect">
            <a:avLst/>
          </a:prstGeom>
          <a:noFill/>
          <a:ln/>
        </p:spPr>
        <p:txBody>
          <a:bodyPr wrap="square" lIns="0" tIns="0" rIns="0" bIns="0" rtlCol="0" anchor="t"/>
          <a:lstStyle/>
          <a:p>
            <a:pPr algn="l" indent="0" marL="0">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Code pushed → CI builds and pushes image → Helm repo updated → ArgoCD detects change → syncs to cluster → pod restarts with new image</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907375"/>
            <a:ext cx="11090077" cy="708779"/>
          </a:xfrm>
          <a:prstGeom prst="rect">
            <a:avLst/>
          </a:prstGeom>
          <a:noFill/>
          <a:ln/>
        </p:spPr>
        <p:txBody>
          <a:bodyPr wrap="none" lIns="0" tIns="0" rIns="0" bIns="0" rtlCol="0" anchor="t"/>
          <a:lstStyle/>
          <a:p>
            <a:pPr algn="l" indent="0" marL="0">
              <a:lnSpc>
                <a:spcPts val="5550"/>
              </a:lnSpc>
              <a:buNone/>
            </a:pPr>
            <a:r>
              <a:rPr lang="en-US" sz="4450" dirty="0">
                <a:solidFill>
                  <a:srgbClr val="091C53"/>
                </a:solidFill>
                <a:latin typeface="Instrument Sans Semi Bold" pitchFamily="34" charset="0"/>
                <a:ea typeface="Instrument Sans Semi Bold" pitchFamily="34" charset="-122"/>
                <a:cs typeface="Instrument Sans Semi Bold" pitchFamily="34" charset="-120"/>
              </a:rPr>
              <a:t>ArgoCD — Apps-of-Apps Implementation</a:t>
            </a:r>
            <a:endParaRPr lang="en-US" sz="4450" dirty="0"/>
          </a:p>
        </p:txBody>
      </p:sp>
      <p:sp>
        <p:nvSpPr>
          <p:cNvPr id="3" name="Text 1"/>
          <p:cNvSpPr/>
          <p:nvPr/>
        </p:nvSpPr>
        <p:spPr>
          <a:xfrm>
            <a:off x="793790" y="2069782"/>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Instead of manually registering each microservice, Rentlora utilizes a powerful </a:t>
            </a:r>
            <a:pPr algn="l" indent="0" marL="0">
              <a:lnSpc>
                <a:spcPts val="2850"/>
              </a:lnSpc>
              <a:buNone/>
            </a:pPr>
            <a:r>
              <a:rPr lang="en-US" sz="1750" b="1" dirty="0">
                <a:solidFill>
                  <a:srgbClr val="1E3063"/>
                </a:solidFill>
                <a:latin typeface="Instrument Sans Medium" pitchFamily="34" charset="0"/>
                <a:ea typeface="Instrument Sans Medium" pitchFamily="34" charset="-122"/>
                <a:cs typeface="Instrument Sans Medium" pitchFamily="34" charset="-120"/>
              </a:rPr>
              <a:t>Apps-of-Apps pattern</a:t>
            </a:r>
            <a:pPr algn="l" indent="0" marL="0">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 to dynamically manage all environments, ensuring a flexible and scalable GitOps deployment.</a:t>
            </a:r>
            <a:endParaRPr lang="en-US" sz="1750" dirty="0"/>
          </a:p>
        </p:txBody>
      </p:sp>
      <p:sp>
        <p:nvSpPr>
          <p:cNvPr id="4" name="Shape 2"/>
          <p:cNvSpPr/>
          <p:nvPr/>
        </p:nvSpPr>
        <p:spPr>
          <a:xfrm>
            <a:off x="793790" y="3050738"/>
            <a:ext cx="4196358" cy="4271486"/>
          </a:xfrm>
          <a:prstGeom prst="roundRect">
            <a:avLst>
              <a:gd name="adj" fmla="val 4865"/>
            </a:avLst>
          </a:prstGeom>
          <a:solidFill>
            <a:srgbClr val="FFFFFF"/>
          </a:solidFill>
          <a:ln w="30480">
            <a:solidFill>
              <a:srgbClr val="B4CCE3"/>
            </a:solidFill>
            <a:prstDash val="solid"/>
          </a:ln>
        </p:spPr>
      </p:sp>
      <p:sp>
        <p:nvSpPr>
          <p:cNvPr id="5" name="Shape 3"/>
          <p:cNvSpPr/>
          <p:nvPr/>
        </p:nvSpPr>
        <p:spPr>
          <a:xfrm>
            <a:off x="824270" y="3081218"/>
            <a:ext cx="4135398" cy="680442"/>
          </a:xfrm>
          <a:prstGeom prst="roundRect">
            <a:avLst>
              <a:gd name="adj" fmla="val 24627"/>
            </a:avLst>
          </a:prstGeom>
          <a:solidFill>
            <a:srgbClr val="CEE6FD"/>
          </a:solidFill>
          <a:ln/>
        </p:spPr>
      </p:sp>
      <p:sp>
        <p:nvSpPr>
          <p:cNvPr id="6" name="Text 4"/>
          <p:cNvSpPr/>
          <p:nvPr/>
        </p:nvSpPr>
        <p:spPr>
          <a:xfrm>
            <a:off x="2721888" y="3208734"/>
            <a:ext cx="340162" cy="425291"/>
          </a:xfrm>
          <a:prstGeom prst="rect">
            <a:avLst/>
          </a:prstGeom>
          <a:noFill/>
          <a:ln/>
        </p:spPr>
        <p:txBody>
          <a:bodyPr wrap="none" lIns="0" tIns="0" rIns="0" bIns="0" rtlCol="0" anchor="t"/>
          <a:lstStyle/>
          <a:p>
            <a:pPr algn="l" indent="0" marL="0">
              <a:lnSpc>
                <a:spcPts val="2650"/>
              </a:lnSpc>
              <a:buNone/>
            </a:pPr>
            <a:r>
              <a:rPr lang="en-US" sz="2650" dirty="0">
                <a:solidFill>
                  <a:srgbClr val="1E3063"/>
                </a:solidFill>
                <a:latin typeface="Instrument Sans Semi Bold" pitchFamily="34" charset="0"/>
                <a:ea typeface="Instrument Sans Semi Bold" pitchFamily="34" charset="-122"/>
                <a:cs typeface="Instrument Sans Semi Bold" pitchFamily="34" charset="-120"/>
              </a:rPr>
              <a:t>1</a:t>
            </a:r>
            <a:endParaRPr lang="en-US" sz="2650" dirty="0"/>
          </a:p>
        </p:txBody>
      </p:sp>
      <p:sp>
        <p:nvSpPr>
          <p:cNvPr id="7" name="Text 5"/>
          <p:cNvSpPr/>
          <p:nvPr/>
        </p:nvSpPr>
        <p:spPr>
          <a:xfrm>
            <a:off x="1051084" y="3988475"/>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1E3063"/>
                </a:solidFill>
                <a:latin typeface="Instrument Sans Semi Bold" pitchFamily="34" charset="0"/>
                <a:ea typeface="Instrument Sans Semi Bold" pitchFamily="34" charset="-122"/>
                <a:cs typeface="Instrument Sans Semi Bold" pitchFamily="34" charset="-120"/>
              </a:rPr>
              <a:t>Root Applications</a:t>
            </a:r>
            <a:endParaRPr lang="en-US" sz="2200" dirty="0"/>
          </a:p>
        </p:txBody>
      </p:sp>
      <p:sp>
        <p:nvSpPr>
          <p:cNvPr id="8" name="Text 6"/>
          <p:cNvSpPr/>
          <p:nvPr/>
        </p:nvSpPr>
        <p:spPr>
          <a:xfrm>
            <a:off x="1051084" y="4478893"/>
            <a:ext cx="3681770" cy="2223135"/>
          </a:xfrm>
          <a:prstGeom prst="rect">
            <a:avLst/>
          </a:prstGeom>
          <a:noFill/>
          <a:ln/>
        </p:spPr>
        <p:txBody>
          <a:bodyPr wrap="square" lIns="0" tIns="0" rIns="0" bIns="0" rtlCol="0" anchor="t"/>
          <a:lstStyle/>
          <a:p>
            <a:pPr algn="l" indent="0" marL="0">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Dedicated root applications, </a:t>
            </a:r>
            <a:pPr algn="l" indent="0" marL="0">
              <a:lnSpc>
                <a:spcPts val="2850"/>
              </a:lnSpc>
              <a:buNone/>
            </a:pPr>
            <a:r>
              <a:rPr lang="en-US" sz="1750" dirty="0">
                <a:solidFill>
                  <a:srgbClr val="1E3063"/>
                </a:solidFill>
                <a:highlight>
                  <a:srgbClr val="F2F2F2"/>
                </a:highlight>
                <a:latin typeface="Consolas" pitchFamily="34" charset="0"/>
                <a:ea typeface="Consolas" pitchFamily="34" charset="-122"/>
                <a:cs typeface="Consolas" pitchFamily="34" charset="-120"/>
              </a:rPr>
              <a:t>rentlora-dev-root</a:t>
            </a:r>
            <a:pPr algn="l" indent="0" marL="0">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 and </a:t>
            </a:r>
            <a:pPr algn="l" indent="0" marL="0">
              <a:lnSpc>
                <a:spcPts val="2850"/>
              </a:lnSpc>
              <a:buNone/>
            </a:pPr>
            <a:r>
              <a:rPr lang="en-US" sz="1750" dirty="0">
                <a:solidFill>
                  <a:srgbClr val="1E3063"/>
                </a:solidFill>
                <a:highlight>
                  <a:srgbClr val="F2F2F2"/>
                </a:highlight>
                <a:latin typeface="Consolas" pitchFamily="34" charset="0"/>
                <a:ea typeface="Consolas" pitchFamily="34" charset="-122"/>
                <a:cs typeface="Consolas" pitchFamily="34" charset="-120"/>
              </a:rPr>
              <a:t>rentlora-prod-root</a:t>
            </a:r>
            <a:pPr algn="l" indent="0" marL="0">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 are set up to manage respective environments. These act as central orchestrators for all services within their scope.</a:t>
            </a:r>
            <a:endParaRPr lang="en-US" sz="1750" dirty="0"/>
          </a:p>
        </p:txBody>
      </p:sp>
      <p:sp>
        <p:nvSpPr>
          <p:cNvPr id="9" name="Shape 7"/>
          <p:cNvSpPr/>
          <p:nvPr/>
        </p:nvSpPr>
        <p:spPr>
          <a:xfrm>
            <a:off x="5216962" y="3050738"/>
            <a:ext cx="4196358" cy="4271486"/>
          </a:xfrm>
          <a:prstGeom prst="roundRect">
            <a:avLst>
              <a:gd name="adj" fmla="val 4865"/>
            </a:avLst>
          </a:prstGeom>
          <a:solidFill>
            <a:srgbClr val="FFFFFF"/>
          </a:solidFill>
          <a:ln w="30480">
            <a:solidFill>
              <a:srgbClr val="B4CCE3"/>
            </a:solidFill>
            <a:prstDash val="solid"/>
          </a:ln>
        </p:spPr>
      </p:sp>
      <p:sp>
        <p:nvSpPr>
          <p:cNvPr id="10" name="Shape 8"/>
          <p:cNvSpPr/>
          <p:nvPr/>
        </p:nvSpPr>
        <p:spPr>
          <a:xfrm>
            <a:off x="5247442" y="3081218"/>
            <a:ext cx="4135398" cy="680442"/>
          </a:xfrm>
          <a:prstGeom prst="roundRect">
            <a:avLst>
              <a:gd name="adj" fmla="val 24627"/>
            </a:avLst>
          </a:prstGeom>
          <a:solidFill>
            <a:srgbClr val="CEE6FD"/>
          </a:solidFill>
          <a:ln/>
        </p:spPr>
      </p:sp>
      <p:sp>
        <p:nvSpPr>
          <p:cNvPr id="11" name="Text 9"/>
          <p:cNvSpPr/>
          <p:nvPr/>
        </p:nvSpPr>
        <p:spPr>
          <a:xfrm>
            <a:off x="7145060" y="3208734"/>
            <a:ext cx="340162" cy="425291"/>
          </a:xfrm>
          <a:prstGeom prst="rect">
            <a:avLst/>
          </a:prstGeom>
          <a:noFill/>
          <a:ln/>
        </p:spPr>
        <p:txBody>
          <a:bodyPr wrap="none" lIns="0" tIns="0" rIns="0" bIns="0" rtlCol="0" anchor="t"/>
          <a:lstStyle/>
          <a:p>
            <a:pPr algn="l" indent="0" marL="0">
              <a:lnSpc>
                <a:spcPts val="2650"/>
              </a:lnSpc>
              <a:buNone/>
            </a:pPr>
            <a:r>
              <a:rPr lang="en-US" sz="2650" dirty="0">
                <a:solidFill>
                  <a:srgbClr val="1E3063"/>
                </a:solidFill>
                <a:latin typeface="Instrument Sans Semi Bold" pitchFamily="34" charset="0"/>
                <a:ea typeface="Instrument Sans Semi Bold" pitchFamily="34" charset="-122"/>
                <a:cs typeface="Instrument Sans Semi Bold" pitchFamily="34" charset="-120"/>
              </a:rPr>
              <a:t>2</a:t>
            </a:r>
            <a:endParaRPr lang="en-US" sz="2650" dirty="0"/>
          </a:p>
        </p:txBody>
      </p:sp>
      <p:sp>
        <p:nvSpPr>
          <p:cNvPr id="12" name="Text 10"/>
          <p:cNvSpPr/>
          <p:nvPr/>
        </p:nvSpPr>
        <p:spPr>
          <a:xfrm>
            <a:off x="5474256" y="3988475"/>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1E3063"/>
                </a:solidFill>
                <a:latin typeface="Instrument Sans Semi Bold" pitchFamily="34" charset="0"/>
                <a:ea typeface="Instrument Sans Semi Bold" pitchFamily="34" charset="-122"/>
                <a:cs typeface="Instrument Sans Semi Bold" pitchFamily="34" charset="-120"/>
              </a:rPr>
              <a:t>Watched Directories</a:t>
            </a:r>
            <a:endParaRPr lang="en-US" sz="2200" dirty="0"/>
          </a:p>
        </p:txBody>
      </p:sp>
      <p:sp>
        <p:nvSpPr>
          <p:cNvPr id="13" name="Text 11"/>
          <p:cNvSpPr/>
          <p:nvPr/>
        </p:nvSpPr>
        <p:spPr>
          <a:xfrm>
            <a:off x="5474256" y="4478893"/>
            <a:ext cx="3681770" cy="2586038"/>
          </a:xfrm>
          <a:prstGeom prst="rect">
            <a:avLst/>
          </a:prstGeom>
          <a:noFill/>
          <a:ln/>
        </p:spPr>
        <p:txBody>
          <a:bodyPr wrap="square" lIns="0" tIns="0" rIns="0" bIns="0" rtlCol="0" anchor="t"/>
          <a:lstStyle/>
          <a:p>
            <a:pPr algn="l" indent="0" marL="0">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Each root application continuously monitors specific directories within the Helm repository: </a:t>
            </a:r>
            <a:pPr algn="l" indent="0" marL="0">
              <a:lnSpc>
                <a:spcPts val="2850"/>
              </a:lnSpc>
              <a:buNone/>
            </a:pPr>
            <a:r>
              <a:rPr lang="en-US" sz="1750" dirty="0">
                <a:solidFill>
                  <a:srgbClr val="1E3063"/>
                </a:solidFill>
                <a:highlight>
                  <a:srgbClr val="F2F2F2"/>
                </a:highlight>
                <a:latin typeface="Consolas" pitchFamily="34" charset="0"/>
                <a:ea typeface="Consolas" pitchFamily="34" charset="-122"/>
                <a:cs typeface="Consolas" pitchFamily="34" charset="-120"/>
              </a:rPr>
              <a:t>helm/argocd/dev/</a:t>
            </a:r>
            <a:pPr algn="l" indent="0" marL="0">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 and </a:t>
            </a:r>
            <a:pPr algn="l" indent="0" marL="0">
              <a:lnSpc>
                <a:spcPts val="2850"/>
              </a:lnSpc>
              <a:buNone/>
            </a:pPr>
            <a:r>
              <a:rPr lang="en-US" sz="1750" dirty="0">
                <a:solidFill>
                  <a:srgbClr val="1E3063"/>
                </a:solidFill>
                <a:highlight>
                  <a:srgbClr val="F2F2F2"/>
                </a:highlight>
                <a:latin typeface="Consolas" pitchFamily="34" charset="0"/>
                <a:ea typeface="Consolas" pitchFamily="34" charset="-122"/>
                <a:cs typeface="Consolas" pitchFamily="34" charset="-120"/>
              </a:rPr>
              <a:t>helm/argocd/prod/</a:t>
            </a:r>
            <a:pPr algn="l" indent="0" marL="0">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 These directories contain the definitions for all child applications.</a:t>
            </a:r>
            <a:endParaRPr lang="en-US" sz="1750" dirty="0"/>
          </a:p>
        </p:txBody>
      </p:sp>
      <p:sp>
        <p:nvSpPr>
          <p:cNvPr id="14" name="Shape 12"/>
          <p:cNvSpPr/>
          <p:nvPr/>
        </p:nvSpPr>
        <p:spPr>
          <a:xfrm>
            <a:off x="9640133" y="3050738"/>
            <a:ext cx="4196358" cy="4271486"/>
          </a:xfrm>
          <a:prstGeom prst="roundRect">
            <a:avLst>
              <a:gd name="adj" fmla="val 4865"/>
            </a:avLst>
          </a:prstGeom>
          <a:solidFill>
            <a:srgbClr val="FFFFFF"/>
          </a:solidFill>
          <a:ln w="30480">
            <a:solidFill>
              <a:srgbClr val="B4CCE3"/>
            </a:solidFill>
            <a:prstDash val="solid"/>
          </a:ln>
        </p:spPr>
      </p:sp>
      <p:sp>
        <p:nvSpPr>
          <p:cNvPr id="15" name="Shape 13"/>
          <p:cNvSpPr/>
          <p:nvPr/>
        </p:nvSpPr>
        <p:spPr>
          <a:xfrm>
            <a:off x="9670613" y="3081218"/>
            <a:ext cx="4135398" cy="680442"/>
          </a:xfrm>
          <a:prstGeom prst="roundRect">
            <a:avLst>
              <a:gd name="adj" fmla="val 24627"/>
            </a:avLst>
          </a:prstGeom>
          <a:solidFill>
            <a:srgbClr val="CEE6FD"/>
          </a:solidFill>
          <a:ln/>
        </p:spPr>
      </p:sp>
      <p:sp>
        <p:nvSpPr>
          <p:cNvPr id="16" name="Text 14"/>
          <p:cNvSpPr/>
          <p:nvPr/>
        </p:nvSpPr>
        <p:spPr>
          <a:xfrm>
            <a:off x="11568232" y="3208734"/>
            <a:ext cx="340162" cy="425291"/>
          </a:xfrm>
          <a:prstGeom prst="rect">
            <a:avLst/>
          </a:prstGeom>
          <a:noFill/>
          <a:ln/>
        </p:spPr>
        <p:txBody>
          <a:bodyPr wrap="none" lIns="0" tIns="0" rIns="0" bIns="0" rtlCol="0" anchor="t"/>
          <a:lstStyle/>
          <a:p>
            <a:pPr algn="l" indent="0" marL="0">
              <a:lnSpc>
                <a:spcPts val="2650"/>
              </a:lnSpc>
              <a:buNone/>
            </a:pPr>
            <a:r>
              <a:rPr lang="en-US" sz="2650" dirty="0">
                <a:solidFill>
                  <a:srgbClr val="1E3063"/>
                </a:solidFill>
                <a:latin typeface="Instrument Sans Semi Bold" pitchFamily="34" charset="0"/>
                <a:ea typeface="Instrument Sans Semi Bold" pitchFamily="34" charset="-122"/>
                <a:cs typeface="Instrument Sans Semi Bold" pitchFamily="34" charset="-120"/>
              </a:rPr>
              <a:t>3</a:t>
            </a:r>
            <a:endParaRPr lang="en-US" sz="2650" dirty="0"/>
          </a:p>
        </p:txBody>
      </p:sp>
      <p:sp>
        <p:nvSpPr>
          <p:cNvPr id="17" name="Text 15"/>
          <p:cNvSpPr/>
          <p:nvPr/>
        </p:nvSpPr>
        <p:spPr>
          <a:xfrm>
            <a:off x="9897427" y="3988475"/>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1E3063"/>
                </a:solidFill>
                <a:latin typeface="Instrument Sans Semi Bold" pitchFamily="34" charset="0"/>
                <a:ea typeface="Instrument Sans Semi Bold" pitchFamily="34" charset="-122"/>
                <a:cs typeface="Instrument Sans Semi Bold" pitchFamily="34" charset="-120"/>
              </a:rPr>
              <a:t>Automatic Discovery</a:t>
            </a:r>
            <a:endParaRPr lang="en-US" sz="2200" dirty="0"/>
          </a:p>
        </p:txBody>
      </p:sp>
      <p:sp>
        <p:nvSpPr>
          <p:cNvPr id="18" name="Text 16"/>
          <p:cNvSpPr/>
          <p:nvPr/>
        </p:nvSpPr>
        <p:spPr>
          <a:xfrm>
            <a:off x="9897427" y="4478893"/>
            <a:ext cx="3681770" cy="2177415"/>
          </a:xfrm>
          <a:prstGeom prst="rect">
            <a:avLst/>
          </a:prstGeom>
          <a:noFill/>
          <a:ln/>
        </p:spPr>
        <p:txBody>
          <a:bodyPr wrap="square" lIns="0" tIns="0" rIns="0" bIns="0" rtlCol="0" anchor="t"/>
          <a:lstStyle/>
          <a:p>
            <a:pPr algn="l" indent="0" marL="0">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Any new or modified YAML file found in these watched directories is automatically discovered and deployed by ArgoCD as a distinct child application, eliminating manual configuration overhead.</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2252186"/>
            <a:ext cx="8472964" cy="708779"/>
          </a:xfrm>
          <a:prstGeom prst="rect">
            <a:avLst/>
          </a:prstGeom>
          <a:noFill/>
          <a:ln/>
        </p:spPr>
        <p:txBody>
          <a:bodyPr wrap="none" lIns="0" tIns="0" rIns="0" bIns="0" rtlCol="0" anchor="t"/>
          <a:lstStyle/>
          <a:p>
            <a:pPr algn="l" indent="0" marL="0">
              <a:lnSpc>
                <a:spcPts val="5550"/>
              </a:lnSpc>
              <a:buNone/>
            </a:pPr>
            <a:r>
              <a:rPr lang="en-US" sz="4450" dirty="0">
                <a:solidFill>
                  <a:srgbClr val="091C53"/>
                </a:solidFill>
                <a:latin typeface="Instrument Sans Semi Bold" pitchFamily="34" charset="0"/>
                <a:ea typeface="Instrument Sans Semi Bold" pitchFamily="34" charset="-122"/>
                <a:cs typeface="Instrument Sans Semi Bold" pitchFamily="34" charset="-120"/>
              </a:rPr>
              <a:t>Cluster Dashboard — Headlamp</a:t>
            </a:r>
            <a:endParaRPr lang="en-US" sz="4450" dirty="0"/>
          </a:p>
        </p:txBody>
      </p:sp>
      <p:sp>
        <p:nvSpPr>
          <p:cNvPr id="3" name="Shape 1"/>
          <p:cNvSpPr/>
          <p:nvPr/>
        </p:nvSpPr>
        <p:spPr>
          <a:xfrm>
            <a:off x="793790" y="3414593"/>
            <a:ext cx="13042821" cy="963811"/>
          </a:xfrm>
          <a:prstGeom prst="roundRect">
            <a:avLst>
              <a:gd name="adj" fmla="val 21181"/>
            </a:avLst>
          </a:prstGeom>
          <a:solidFill>
            <a:srgbClr val="B5DAFC"/>
          </a:solidFill>
          <a:ln/>
        </p:spPr>
      </p:sp>
      <p:pic>
        <p:nvPicPr>
          <p:cNvPr id="4" name="Image 0" descr="preencoded.png">    </p:cNvPr>
          <p:cNvPicPr>
            <a:picLocks noChangeAspect="1"/>
          </p:cNvPicPr>
          <p:nvPr/>
        </p:nvPicPr>
        <p:blipFill>
          <a:blip r:embed="rId1"/>
          <a:stretch>
            <a:fillRect/>
          </a:stretch>
        </p:blipFill>
        <p:spPr>
          <a:xfrm>
            <a:off x="1020604" y="3758684"/>
            <a:ext cx="283488" cy="226814"/>
          </a:xfrm>
          <a:prstGeom prst="rect">
            <a:avLst/>
          </a:prstGeom>
        </p:spPr>
      </p:pic>
      <p:sp>
        <p:nvSpPr>
          <p:cNvPr id="5" name="Text 2"/>
          <p:cNvSpPr/>
          <p:nvPr/>
        </p:nvSpPr>
        <p:spPr>
          <a:xfrm>
            <a:off x="1530906" y="3698081"/>
            <a:ext cx="12078891" cy="362903"/>
          </a:xfrm>
          <a:prstGeom prst="rect">
            <a:avLst/>
          </a:prstGeom>
          <a:noFill/>
          <a:ln/>
        </p:spPr>
        <p:txBody>
          <a:bodyPr wrap="none" lIns="0" tIns="0" rIns="0" bIns="0" rtlCol="0" anchor="t"/>
          <a:lstStyle/>
          <a:p>
            <a:pPr algn="l" indent="0" marL="0">
              <a:lnSpc>
                <a:spcPts val="2850"/>
              </a:lnSpc>
              <a:buNone/>
            </a:pPr>
            <a:r>
              <a:rPr lang="en-US" sz="1750" b="1" dirty="0">
                <a:solidFill>
                  <a:srgbClr val="000000"/>
                </a:solidFill>
                <a:latin typeface="Instrument Sans Medium" pitchFamily="34" charset="0"/>
                <a:ea typeface="Instrument Sans Medium" pitchFamily="34" charset="-122"/>
                <a:cs typeface="Instrument Sans Medium" pitchFamily="34" charset="-120"/>
              </a:rPr>
              <a:t>Placeholder:</a:t>
            </a:r>
            <a:pPr algn="l" indent="0" marL="0">
              <a:lnSpc>
                <a:spcPts val="2850"/>
              </a:lnSpc>
              <a:buNone/>
            </a:pPr>
            <a:r>
              <a:rPr lang="en-US" sz="1750" dirty="0">
                <a:solidFill>
                  <a:srgbClr val="000000"/>
                </a:solidFill>
                <a:latin typeface="Instrument Sans Medium" pitchFamily="34" charset="0"/>
                <a:ea typeface="Instrument Sans Medium" pitchFamily="34" charset="-122"/>
                <a:cs typeface="Instrument Sans Medium" pitchFamily="34" charset="-120"/>
              </a:rPr>
              <a:t> Headlamp Kubernetes Dashboard — Screenshot to be added</a:t>
            </a:r>
            <a:endParaRPr lang="en-US" sz="1750" dirty="0"/>
          </a:p>
        </p:txBody>
      </p:sp>
      <p:sp>
        <p:nvSpPr>
          <p:cNvPr id="6" name="Text 3"/>
          <p:cNvSpPr/>
          <p:nvPr/>
        </p:nvSpPr>
        <p:spPr>
          <a:xfrm>
            <a:off x="793790" y="4633555"/>
            <a:ext cx="13042821" cy="362903"/>
          </a:xfrm>
          <a:prstGeom prst="rect">
            <a:avLst/>
          </a:prstGeom>
          <a:noFill/>
          <a:ln/>
        </p:spPr>
        <p:txBody>
          <a:bodyPr wrap="none" lIns="0" tIns="0" rIns="0" bIns="0" rtlCol="0" anchor="t"/>
          <a:lstStyle/>
          <a:p>
            <a:pPr algn="l" indent="0" marL="0">
              <a:lnSpc>
                <a:spcPts val="2850"/>
              </a:lnSpc>
              <a:buNone/>
            </a:pPr>
            <a:r>
              <a:rPr lang="en-US" sz="1750" b="1" dirty="0">
                <a:solidFill>
                  <a:srgbClr val="1E3063"/>
                </a:solidFill>
                <a:latin typeface="Instrument Sans Medium" pitchFamily="34" charset="0"/>
                <a:ea typeface="Instrument Sans Medium" pitchFamily="34" charset="-122"/>
                <a:cs typeface="Instrument Sans Medium" pitchFamily="34" charset="-120"/>
              </a:rPr>
              <a:t>Domain:</a:t>
            </a:r>
            <a:pPr algn="l" indent="0" marL="0">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 </a:t>
            </a:r>
            <a:pPr algn="l" indent="0" marL="0">
              <a:lnSpc>
                <a:spcPts val="2850"/>
              </a:lnSpc>
              <a:buNone/>
            </a:pPr>
            <a:r>
              <a:rPr lang="en-US" sz="1750" u="sng" dirty="0">
                <a:solidFill>
                  <a:srgbClr val="0540AD"/>
                </a:solidFill>
                <a:latin typeface="Instrument Sans Medium" pitchFamily="34" charset="0"/>
                <a:ea typeface="Instrument Sans Medium" pitchFamily="34" charset="-122"/>
                <a:cs typeface="Instrument Sans Medium" pitchFamily="34" charset="-120"/>
                <a:hlinkClick r:id="rId2" invalidUrl="" action="" tgtFrame="" tooltip="" history="1" highlightClick="0" endSnd="0">
                  <a:extLst>
                    <a:ext uri="{A12FA001-AC4F-418D-AE19-62706E023703}">
                      <ahyp:hlinkClr xmlns:ahyp="http://schemas.microsoft.com/office/drawing/2018/hyperlinkcolor" val="tx"/>
                    </a:ext>
                  </a:extLst>
                </a:hlinkClick>
              </a:rPr>
              <a:t>headlamp.rentlora.in</a:t>
            </a:r>
            <a:endParaRPr lang="en-US" sz="1750" dirty="0"/>
          </a:p>
        </p:txBody>
      </p:sp>
      <p:sp>
        <p:nvSpPr>
          <p:cNvPr id="7" name="Text 4"/>
          <p:cNvSpPr/>
          <p:nvPr/>
        </p:nvSpPr>
        <p:spPr>
          <a:xfrm>
            <a:off x="793790" y="5251609"/>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Headlamp provides a modern, web-based interface for managing Kubernetes clusters. This dashboard offers real-time visibility into all resources, pods, services, and deployments across the Rentlora infrastructure.</a:t>
            </a:r>
            <a:endParaRPr lang="en-US" sz="1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2252186"/>
            <a:ext cx="7830026" cy="708779"/>
          </a:xfrm>
          <a:prstGeom prst="rect">
            <a:avLst/>
          </a:prstGeom>
          <a:noFill/>
          <a:ln/>
        </p:spPr>
        <p:txBody>
          <a:bodyPr wrap="none" lIns="0" tIns="0" rIns="0" bIns="0" rtlCol="0" anchor="t"/>
          <a:lstStyle/>
          <a:p>
            <a:pPr algn="l" indent="0" marL="0">
              <a:lnSpc>
                <a:spcPts val="5550"/>
              </a:lnSpc>
              <a:buNone/>
            </a:pPr>
            <a:r>
              <a:rPr lang="en-US" sz="4450" dirty="0">
                <a:solidFill>
                  <a:srgbClr val="091C53"/>
                </a:solidFill>
                <a:latin typeface="Instrument Sans Semi Bold" pitchFamily="34" charset="0"/>
                <a:ea typeface="Instrument Sans Semi Bold" pitchFamily="34" charset="-122"/>
                <a:cs typeface="Instrument Sans Semi Bold" pitchFamily="34" charset="-120"/>
              </a:rPr>
              <a:t>GitOps Dashboard — ArgoCD</a:t>
            </a:r>
            <a:endParaRPr lang="en-US" sz="4450" dirty="0"/>
          </a:p>
        </p:txBody>
      </p:sp>
      <p:sp>
        <p:nvSpPr>
          <p:cNvPr id="3" name="Shape 1"/>
          <p:cNvSpPr/>
          <p:nvPr/>
        </p:nvSpPr>
        <p:spPr>
          <a:xfrm>
            <a:off x="793790" y="3414593"/>
            <a:ext cx="13042821" cy="963811"/>
          </a:xfrm>
          <a:prstGeom prst="roundRect">
            <a:avLst>
              <a:gd name="adj" fmla="val 21181"/>
            </a:avLst>
          </a:prstGeom>
          <a:solidFill>
            <a:srgbClr val="B5DAFC"/>
          </a:solidFill>
          <a:ln/>
        </p:spPr>
      </p:sp>
      <p:pic>
        <p:nvPicPr>
          <p:cNvPr id="4" name="Image 0" descr="preencoded.png">    </p:cNvPr>
          <p:cNvPicPr>
            <a:picLocks noChangeAspect="1"/>
          </p:cNvPicPr>
          <p:nvPr/>
        </p:nvPicPr>
        <p:blipFill>
          <a:blip r:embed="rId1"/>
          <a:stretch>
            <a:fillRect/>
          </a:stretch>
        </p:blipFill>
        <p:spPr>
          <a:xfrm>
            <a:off x="1020604" y="3758684"/>
            <a:ext cx="283488" cy="226814"/>
          </a:xfrm>
          <a:prstGeom prst="rect">
            <a:avLst/>
          </a:prstGeom>
        </p:spPr>
      </p:pic>
      <p:sp>
        <p:nvSpPr>
          <p:cNvPr id="5" name="Text 2"/>
          <p:cNvSpPr/>
          <p:nvPr/>
        </p:nvSpPr>
        <p:spPr>
          <a:xfrm>
            <a:off x="1530906" y="3698081"/>
            <a:ext cx="12078891" cy="362903"/>
          </a:xfrm>
          <a:prstGeom prst="rect">
            <a:avLst/>
          </a:prstGeom>
          <a:noFill/>
          <a:ln/>
        </p:spPr>
        <p:txBody>
          <a:bodyPr wrap="none" lIns="0" tIns="0" rIns="0" bIns="0" rtlCol="0" anchor="t"/>
          <a:lstStyle/>
          <a:p>
            <a:pPr algn="l" indent="0" marL="0">
              <a:lnSpc>
                <a:spcPts val="2850"/>
              </a:lnSpc>
              <a:buNone/>
            </a:pPr>
            <a:r>
              <a:rPr lang="en-US" sz="1750" b="1" dirty="0">
                <a:solidFill>
                  <a:srgbClr val="000000"/>
                </a:solidFill>
                <a:latin typeface="Instrument Sans Medium" pitchFamily="34" charset="0"/>
                <a:ea typeface="Instrument Sans Medium" pitchFamily="34" charset="-122"/>
                <a:cs typeface="Instrument Sans Medium" pitchFamily="34" charset="-120"/>
              </a:rPr>
              <a:t>Placeholder:</a:t>
            </a:r>
            <a:pPr algn="l" indent="0" marL="0">
              <a:lnSpc>
                <a:spcPts val="2850"/>
              </a:lnSpc>
              <a:buNone/>
            </a:pPr>
            <a:r>
              <a:rPr lang="en-US" sz="1750" dirty="0">
                <a:solidFill>
                  <a:srgbClr val="000000"/>
                </a:solidFill>
                <a:latin typeface="Instrument Sans Medium" pitchFamily="34" charset="0"/>
                <a:ea typeface="Instrument Sans Medium" pitchFamily="34" charset="-122"/>
                <a:cs typeface="Instrument Sans Medium" pitchFamily="34" charset="-120"/>
              </a:rPr>
              <a:t> ArgoCD Applications Dashboard — Screenshot to be added</a:t>
            </a:r>
            <a:endParaRPr lang="en-US" sz="1750" dirty="0"/>
          </a:p>
        </p:txBody>
      </p:sp>
      <p:sp>
        <p:nvSpPr>
          <p:cNvPr id="6" name="Text 3"/>
          <p:cNvSpPr/>
          <p:nvPr/>
        </p:nvSpPr>
        <p:spPr>
          <a:xfrm>
            <a:off x="793790" y="4633555"/>
            <a:ext cx="13042821" cy="362903"/>
          </a:xfrm>
          <a:prstGeom prst="rect">
            <a:avLst/>
          </a:prstGeom>
          <a:noFill/>
          <a:ln/>
        </p:spPr>
        <p:txBody>
          <a:bodyPr wrap="none" lIns="0" tIns="0" rIns="0" bIns="0" rtlCol="0" anchor="t"/>
          <a:lstStyle/>
          <a:p>
            <a:pPr algn="l" indent="0" marL="0">
              <a:lnSpc>
                <a:spcPts val="2850"/>
              </a:lnSpc>
              <a:buNone/>
            </a:pPr>
            <a:r>
              <a:rPr lang="en-US" sz="1750" b="1" dirty="0">
                <a:solidFill>
                  <a:srgbClr val="1E3063"/>
                </a:solidFill>
                <a:latin typeface="Instrument Sans Medium" pitchFamily="34" charset="0"/>
                <a:ea typeface="Instrument Sans Medium" pitchFamily="34" charset="-122"/>
                <a:cs typeface="Instrument Sans Medium" pitchFamily="34" charset="-120"/>
              </a:rPr>
              <a:t>Domain:</a:t>
            </a:r>
            <a:pPr algn="l" indent="0" marL="0">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 </a:t>
            </a:r>
            <a:pPr algn="l" indent="0" marL="0">
              <a:lnSpc>
                <a:spcPts val="2850"/>
              </a:lnSpc>
              <a:buNone/>
            </a:pPr>
            <a:r>
              <a:rPr lang="en-US" sz="1750" u="sng" dirty="0">
                <a:solidFill>
                  <a:srgbClr val="0540AD"/>
                </a:solidFill>
                <a:latin typeface="Instrument Sans Medium" pitchFamily="34" charset="0"/>
                <a:ea typeface="Instrument Sans Medium" pitchFamily="34" charset="-122"/>
                <a:cs typeface="Instrument Sans Medium" pitchFamily="34" charset="-120"/>
                <a:hlinkClick r:id="rId2" invalidUrl="" action="" tgtFrame="" tooltip="" history="1" highlightClick="0" endSnd="0">
                  <a:extLst>
                    <a:ext uri="{A12FA001-AC4F-418D-AE19-62706E023703}">
                      <ahyp:hlinkClr xmlns:ahyp="http://schemas.microsoft.com/office/drawing/2018/hyperlinkcolor" val="tx"/>
                    </a:ext>
                  </a:extLst>
                </a:hlinkClick>
              </a:rPr>
              <a:t>argocd.rentlora.in</a:t>
            </a:r>
            <a:endParaRPr lang="en-US" sz="1750" dirty="0"/>
          </a:p>
        </p:txBody>
      </p:sp>
      <p:sp>
        <p:nvSpPr>
          <p:cNvPr id="7" name="Text 4"/>
          <p:cNvSpPr/>
          <p:nvPr/>
        </p:nvSpPr>
        <p:spPr>
          <a:xfrm>
            <a:off x="793790" y="5251609"/>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The ArgoCD dashboard displays the current state of all applications, their synchronization status, health conditions, and deployment history. This is the central control plane for GitOps operations.</a:t>
            </a: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2252186"/>
            <a:ext cx="9466302" cy="708779"/>
          </a:xfrm>
          <a:prstGeom prst="rect">
            <a:avLst/>
          </a:prstGeom>
          <a:noFill/>
          <a:ln/>
        </p:spPr>
        <p:txBody>
          <a:bodyPr wrap="none" lIns="0" tIns="0" rIns="0" bIns="0" rtlCol="0" anchor="t"/>
          <a:lstStyle/>
          <a:p>
            <a:pPr algn="l" indent="0" marL="0">
              <a:lnSpc>
                <a:spcPts val="5550"/>
              </a:lnSpc>
              <a:buNone/>
            </a:pPr>
            <a:r>
              <a:rPr lang="en-US" sz="4450" dirty="0">
                <a:solidFill>
                  <a:srgbClr val="091C53"/>
                </a:solidFill>
                <a:latin typeface="Instrument Sans Semi Bold" pitchFamily="34" charset="0"/>
                <a:ea typeface="Instrument Sans Semi Bold" pitchFamily="34" charset="-122"/>
                <a:cs typeface="Instrument Sans Semi Bold" pitchFamily="34" charset="-120"/>
              </a:rPr>
              <a:t>Observability Dashboard — Grafana</a:t>
            </a:r>
            <a:endParaRPr lang="en-US" sz="4450" dirty="0"/>
          </a:p>
        </p:txBody>
      </p:sp>
      <p:sp>
        <p:nvSpPr>
          <p:cNvPr id="3" name="Shape 1"/>
          <p:cNvSpPr/>
          <p:nvPr/>
        </p:nvSpPr>
        <p:spPr>
          <a:xfrm>
            <a:off x="793790" y="3414593"/>
            <a:ext cx="13042821" cy="963811"/>
          </a:xfrm>
          <a:prstGeom prst="roundRect">
            <a:avLst>
              <a:gd name="adj" fmla="val 21181"/>
            </a:avLst>
          </a:prstGeom>
          <a:solidFill>
            <a:srgbClr val="B5DAFC"/>
          </a:solidFill>
          <a:ln/>
        </p:spPr>
      </p:sp>
      <p:pic>
        <p:nvPicPr>
          <p:cNvPr id="4" name="Image 0" descr="preencoded.png">    </p:cNvPr>
          <p:cNvPicPr>
            <a:picLocks noChangeAspect="1"/>
          </p:cNvPicPr>
          <p:nvPr/>
        </p:nvPicPr>
        <p:blipFill>
          <a:blip r:embed="rId1"/>
          <a:stretch>
            <a:fillRect/>
          </a:stretch>
        </p:blipFill>
        <p:spPr>
          <a:xfrm>
            <a:off x="1020604" y="3758684"/>
            <a:ext cx="283488" cy="226814"/>
          </a:xfrm>
          <a:prstGeom prst="rect">
            <a:avLst/>
          </a:prstGeom>
        </p:spPr>
      </p:pic>
      <p:sp>
        <p:nvSpPr>
          <p:cNvPr id="5" name="Text 2"/>
          <p:cNvSpPr/>
          <p:nvPr/>
        </p:nvSpPr>
        <p:spPr>
          <a:xfrm>
            <a:off x="1530906" y="3698081"/>
            <a:ext cx="12078891" cy="362903"/>
          </a:xfrm>
          <a:prstGeom prst="rect">
            <a:avLst/>
          </a:prstGeom>
          <a:noFill/>
          <a:ln/>
        </p:spPr>
        <p:txBody>
          <a:bodyPr wrap="none" lIns="0" tIns="0" rIns="0" bIns="0" rtlCol="0" anchor="t"/>
          <a:lstStyle/>
          <a:p>
            <a:pPr algn="l" indent="0" marL="0">
              <a:lnSpc>
                <a:spcPts val="2850"/>
              </a:lnSpc>
              <a:buNone/>
            </a:pPr>
            <a:r>
              <a:rPr lang="en-US" sz="1750" b="1" dirty="0">
                <a:solidFill>
                  <a:srgbClr val="000000"/>
                </a:solidFill>
                <a:latin typeface="Instrument Sans Medium" pitchFamily="34" charset="0"/>
                <a:ea typeface="Instrument Sans Medium" pitchFamily="34" charset="-122"/>
                <a:cs typeface="Instrument Sans Medium" pitchFamily="34" charset="-120"/>
              </a:rPr>
              <a:t>Placeholder:</a:t>
            </a:r>
            <a:pPr algn="l" indent="0" marL="0">
              <a:lnSpc>
                <a:spcPts val="2850"/>
              </a:lnSpc>
              <a:buNone/>
            </a:pPr>
            <a:r>
              <a:rPr lang="en-US" sz="1750" dirty="0">
                <a:solidFill>
                  <a:srgbClr val="000000"/>
                </a:solidFill>
                <a:latin typeface="Instrument Sans Medium" pitchFamily="34" charset="0"/>
                <a:ea typeface="Instrument Sans Medium" pitchFamily="34" charset="-122"/>
                <a:cs typeface="Instrument Sans Medium" pitchFamily="34" charset="-120"/>
              </a:rPr>
              <a:t> Grafana Log Visualization (Loki) — Screenshot to be added</a:t>
            </a:r>
            <a:endParaRPr lang="en-US" sz="1750" dirty="0"/>
          </a:p>
        </p:txBody>
      </p:sp>
      <p:sp>
        <p:nvSpPr>
          <p:cNvPr id="6" name="Text 3"/>
          <p:cNvSpPr/>
          <p:nvPr/>
        </p:nvSpPr>
        <p:spPr>
          <a:xfrm>
            <a:off x="793790" y="4633555"/>
            <a:ext cx="13042821" cy="362903"/>
          </a:xfrm>
          <a:prstGeom prst="rect">
            <a:avLst/>
          </a:prstGeom>
          <a:noFill/>
          <a:ln/>
        </p:spPr>
        <p:txBody>
          <a:bodyPr wrap="none" lIns="0" tIns="0" rIns="0" bIns="0" rtlCol="0" anchor="t"/>
          <a:lstStyle/>
          <a:p>
            <a:pPr algn="l" indent="0" marL="0">
              <a:lnSpc>
                <a:spcPts val="2850"/>
              </a:lnSpc>
              <a:buNone/>
            </a:pPr>
            <a:r>
              <a:rPr lang="en-US" sz="1750" b="1" dirty="0">
                <a:solidFill>
                  <a:srgbClr val="1E3063"/>
                </a:solidFill>
                <a:latin typeface="Instrument Sans Medium" pitchFamily="34" charset="0"/>
                <a:ea typeface="Instrument Sans Medium" pitchFamily="34" charset="-122"/>
                <a:cs typeface="Instrument Sans Medium" pitchFamily="34" charset="-120"/>
              </a:rPr>
              <a:t>Domain:</a:t>
            </a:r>
            <a:pPr algn="l" indent="0" marL="0">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 </a:t>
            </a:r>
            <a:pPr algn="l" indent="0" marL="0">
              <a:lnSpc>
                <a:spcPts val="2850"/>
              </a:lnSpc>
              <a:buNone/>
            </a:pPr>
            <a:r>
              <a:rPr lang="en-US" sz="1750" u="sng" dirty="0">
                <a:solidFill>
                  <a:srgbClr val="0540AD"/>
                </a:solidFill>
                <a:latin typeface="Instrument Sans Medium" pitchFamily="34" charset="0"/>
                <a:ea typeface="Instrument Sans Medium" pitchFamily="34" charset="-122"/>
                <a:cs typeface="Instrument Sans Medium" pitchFamily="34" charset="-120"/>
                <a:hlinkClick r:id="rId2" invalidUrl="" action="" tgtFrame="" tooltip="" history="1" highlightClick="0" endSnd="0">
                  <a:extLst>
                    <a:ext uri="{A12FA001-AC4F-418D-AE19-62706E023703}">
                      <ahyp:hlinkClr xmlns:ahyp="http://schemas.microsoft.com/office/drawing/2018/hyperlinkcolor" val="tx"/>
                    </a:ext>
                  </a:extLst>
                </a:hlinkClick>
              </a:rPr>
              <a:t>grafana.rentlora.in</a:t>
            </a:r>
            <a:endParaRPr lang="en-US" sz="1750" dirty="0"/>
          </a:p>
        </p:txBody>
      </p:sp>
      <p:sp>
        <p:nvSpPr>
          <p:cNvPr id="7" name="Text 4"/>
          <p:cNvSpPr/>
          <p:nvPr/>
        </p:nvSpPr>
        <p:spPr>
          <a:xfrm>
            <a:off x="793790" y="5251609"/>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Grafana integrates with Loki for log aggregation and visualization, providing deep insights into application behavior, error patterns, and performance metrics across all Rentlora services.</a:t>
            </a:r>
            <a:endParaRPr lang="en-US" sz="1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1100614"/>
            <a:ext cx="9242822" cy="708779"/>
          </a:xfrm>
          <a:prstGeom prst="rect">
            <a:avLst/>
          </a:prstGeom>
          <a:noFill/>
          <a:ln/>
        </p:spPr>
        <p:txBody>
          <a:bodyPr wrap="none" lIns="0" tIns="0" rIns="0" bIns="0" rtlCol="0" anchor="t"/>
          <a:lstStyle/>
          <a:p>
            <a:pPr algn="l" indent="0" marL="0">
              <a:lnSpc>
                <a:spcPts val="5550"/>
              </a:lnSpc>
              <a:buNone/>
            </a:pPr>
            <a:r>
              <a:rPr lang="en-US" sz="4450" dirty="0">
                <a:solidFill>
                  <a:srgbClr val="091C53"/>
                </a:solidFill>
                <a:latin typeface="Instrument Sans Semi Bold" pitchFamily="34" charset="0"/>
                <a:ea typeface="Instrument Sans Semi Bold" pitchFamily="34" charset="-122"/>
                <a:cs typeface="Instrument Sans Semi Bold" pitchFamily="34" charset="-120"/>
              </a:rPr>
              <a:t>Production Domains &amp; Live Access</a:t>
            </a:r>
            <a:endParaRPr lang="en-US" sz="4450" dirty="0"/>
          </a:p>
        </p:txBody>
      </p:sp>
      <p:sp>
        <p:nvSpPr>
          <p:cNvPr id="3" name="Text 1"/>
          <p:cNvSpPr/>
          <p:nvPr/>
        </p:nvSpPr>
        <p:spPr>
          <a:xfrm>
            <a:off x="793790" y="2263021"/>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All services are accessible via HTTPS with HAProxy handling ingress routing and load balancing.</a:t>
            </a:r>
            <a:endParaRPr lang="en-US" sz="1750" dirty="0"/>
          </a:p>
        </p:txBody>
      </p:sp>
      <p:sp>
        <p:nvSpPr>
          <p:cNvPr id="4" name="Shape 2"/>
          <p:cNvSpPr/>
          <p:nvPr/>
        </p:nvSpPr>
        <p:spPr>
          <a:xfrm>
            <a:off x="793790" y="2881074"/>
            <a:ext cx="13042821" cy="3629739"/>
          </a:xfrm>
          <a:prstGeom prst="roundRect">
            <a:avLst>
              <a:gd name="adj" fmla="val 5624"/>
            </a:avLst>
          </a:prstGeom>
          <a:noFill/>
          <a:ln w="7620">
            <a:solidFill>
              <a:srgbClr val="000000">
                <a:alpha val="8000"/>
              </a:srgbClr>
            </a:solidFill>
            <a:prstDash val="solid"/>
          </a:ln>
        </p:spPr>
      </p:sp>
      <p:sp>
        <p:nvSpPr>
          <p:cNvPr id="5" name="Shape 3"/>
          <p:cNvSpPr/>
          <p:nvPr/>
        </p:nvSpPr>
        <p:spPr>
          <a:xfrm>
            <a:off x="801410" y="2888694"/>
            <a:ext cx="13027581" cy="650319"/>
          </a:xfrm>
          <a:prstGeom prst="rect">
            <a:avLst/>
          </a:prstGeom>
          <a:solidFill>
            <a:srgbClr val="FFFFFF">
              <a:alpha val="4000"/>
            </a:srgbClr>
          </a:solidFill>
          <a:ln/>
        </p:spPr>
      </p:sp>
      <p:sp>
        <p:nvSpPr>
          <p:cNvPr id="6" name="Text 4"/>
          <p:cNvSpPr/>
          <p:nvPr/>
        </p:nvSpPr>
        <p:spPr>
          <a:xfrm>
            <a:off x="1028462" y="3032403"/>
            <a:ext cx="2799397" cy="362903"/>
          </a:xfrm>
          <a:prstGeom prst="rect">
            <a:avLst/>
          </a:prstGeom>
          <a:noFill/>
          <a:ln/>
        </p:spPr>
        <p:txBody>
          <a:bodyPr wrap="none" lIns="0" tIns="0" rIns="0" bIns="0" rtlCol="0" anchor="t"/>
          <a:lstStyle/>
          <a:p>
            <a:pPr algn="l" indent="0" marL="0">
              <a:lnSpc>
                <a:spcPts val="2850"/>
              </a:lnSpc>
              <a:buNone/>
            </a:pPr>
            <a:r>
              <a:rPr lang="en-US" sz="1750" b="1" dirty="0">
                <a:solidFill>
                  <a:srgbClr val="1E3063"/>
                </a:solidFill>
                <a:latin typeface="Instrument Sans Medium" pitchFamily="34" charset="0"/>
                <a:ea typeface="Instrument Sans Medium" pitchFamily="34" charset="-122"/>
                <a:cs typeface="Instrument Sans Medium" pitchFamily="34" charset="-120"/>
              </a:rPr>
              <a:t>Service</a:t>
            </a:r>
            <a:endParaRPr lang="en-US" sz="1750" dirty="0"/>
          </a:p>
        </p:txBody>
      </p:sp>
      <p:sp>
        <p:nvSpPr>
          <p:cNvPr id="7" name="Text 5"/>
          <p:cNvSpPr/>
          <p:nvPr/>
        </p:nvSpPr>
        <p:spPr>
          <a:xfrm>
            <a:off x="4289108" y="3032403"/>
            <a:ext cx="2795588" cy="362903"/>
          </a:xfrm>
          <a:prstGeom prst="rect">
            <a:avLst/>
          </a:prstGeom>
          <a:noFill/>
          <a:ln/>
        </p:spPr>
        <p:txBody>
          <a:bodyPr wrap="none" lIns="0" tIns="0" rIns="0" bIns="0" rtlCol="0" anchor="t"/>
          <a:lstStyle/>
          <a:p>
            <a:pPr algn="l" indent="0" marL="0">
              <a:lnSpc>
                <a:spcPts val="2850"/>
              </a:lnSpc>
              <a:buNone/>
            </a:pPr>
            <a:r>
              <a:rPr lang="en-US" sz="1750" b="1" dirty="0">
                <a:solidFill>
                  <a:srgbClr val="1E3063"/>
                </a:solidFill>
                <a:latin typeface="Instrument Sans Medium" pitchFamily="34" charset="0"/>
                <a:ea typeface="Instrument Sans Medium" pitchFamily="34" charset="-122"/>
                <a:cs typeface="Instrument Sans Medium" pitchFamily="34" charset="-120"/>
              </a:rPr>
              <a:t>Domain</a:t>
            </a:r>
            <a:endParaRPr lang="en-US" sz="1750" dirty="0"/>
          </a:p>
        </p:txBody>
      </p:sp>
      <p:sp>
        <p:nvSpPr>
          <p:cNvPr id="8" name="Text 6"/>
          <p:cNvSpPr/>
          <p:nvPr/>
        </p:nvSpPr>
        <p:spPr>
          <a:xfrm>
            <a:off x="7545943" y="3032403"/>
            <a:ext cx="3446978" cy="362903"/>
          </a:xfrm>
          <a:prstGeom prst="rect">
            <a:avLst/>
          </a:prstGeom>
          <a:noFill/>
          <a:ln/>
        </p:spPr>
        <p:txBody>
          <a:bodyPr wrap="none" lIns="0" tIns="0" rIns="0" bIns="0" rtlCol="0" anchor="t"/>
          <a:lstStyle/>
          <a:p>
            <a:pPr algn="l" indent="0" marL="0">
              <a:lnSpc>
                <a:spcPts val="2850"/>
              </a:lnSpc>
              <a:buNone/>
            </a:pPr>
            <a:r>
              <a:rPr lang="en-US" sz="1750" b="1" dirty="0">
                <a:solidFill>
                  <a:srgbClr val="1E3063"/>
                </a:solidFill>
                <a:latin typeface="Instrument Sans Medium" pitchFamily="34" charset="0"/>
                <a:ea typeface="Instrument Sans Medium" pitchFamily="34" charset="-122"/>
                <a:cs typeface="Instrument Sans Medium" pitchFamily="34" charset="-120"/>
              </a:rPr>
              <a:t>Description</a:t>
            </a:r>
            <a:endParaRPr lang="en-US" sz="1750" dirty="0"/>
          </a:p>
        </p:txBody>
      </p:sp>
      <p:sp>
        <p:nvSpPr>
          <p:cNvPr id="9" name="Text 7"/>
          <p:cNvSpPr/>
          <p:nvPr/>
        </p:nvSpPr>
        <p:spPr>
          <a:xfrm>
            <a:off x="11454170" y="3032403"/>
            <a:ext cx="2148007" cy="362903"/>
          </a:xfrm>
          <a:prstGeom prst="rect">
            <a:avLst/>
          </a:prstGeom>
          <a:noFill/>
          <a:ln/>
        </p:spPr>
        <p:txBody>
          <a:bodyPr wrap="none" lIns="0" tIns="0" rIns="0" bIns="0" rtlCol="0" anchor="t"/>
          <a:lstStyle/>
          <a:p>
            <a:pPr algn="l" indent="0" marL="0">
              <a:lnSpc>
                <a:spcPts val="2850"/>
              </a:lnSpc>
              <a:buNone/>
            </a:pPr>
            <a:r>
              <a:rPr lang="en-US" sz="1750" b="1" dirty="0">
                <a:solidFill>
                  <a:srgbClr val="1E3063"/>
                </a:solidFill>
                <a:latin typeface="Instrument Sans Medium" pitchFamily="34" charset="0"/>
                <a:ea typeface="Instrument Sans Medium" pitchFamily="34" charset="-122"/>
                <a:cs typeface="Instrument Sans Medium" pitchFamily="34" charset="-120"/>
              </a:rPr>
              <a:t>Application</a:t>
            </a:r>
            <a:endParaRPr lang="en-US" sz="1750" dirty="0"/>
          </a:p>
        </p:txBody>
      </p:sp>
      <p:sp>
        <p:nvSpPr>
          <p:cNvPr id="10" name="Shape 8"/>
          <p:cNvSpPr/>
          <p:nvPr/>
        </p:nvSpPr>
        <p:spPr>
          <a:xfrm>
            <a:off x="801410" y="3539014"/>
            <a:ext cx="13027581" cy="650319"/>
          </a:xfrm>
          <a:prstGeom prst="rect">
            <a:avLst/>
          </a:prstGeom>
          <a:solidFill>
            <a:srgbClr val="000000">
              <a:alpha val="4000"/>
            </a:srgbClr>
          </a:solidFill>
          <a:ln/>
        </p:spPr>
      </p:sp>
      <p:sp>
        <p:nvSpPr>
          <p:cNvPr id="11" name="Text 9"/>
          <p:cNvSpPr/>
          <p:nvPr/>
        </p:nvSpPr>
        <p:spPr>
          <a:xfrm>
            <a:off x="1028462" y="3682722"/>
            <a:ext cx="2799397" cy="362903"/>
          </a:xfrm>
          <a:prstGeom prst="rect">
            <a:avLst/>
          </a:prstGeom>
          <a:noFill/>
          <a:ln/>
        </p:spPr>
        <p:txBody>
          <a:bodyPr wrap="none" lIns="0" tIns="0" rIns="0" bIns="0" rtlCol="0" anchor="t"/>
          <a:lstStyle/>
          <a:p>
            <a:pPr algn="l" indent="0" marL="0">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Rentlora</a:t>
            </a:r>
            <a:endParaRPr lang="en-US" sz="1750" dirty="0"/>
          </a:p>
        </p:txBody>
      </p:sp>
      <p:sp>
        <p:nvSpPr>
          <p:cNvPr id="12" name="Text 10"/>
          <p:cNvSpPr/>
          <p:nvPr/>
        </p:nvSpPr>
        <p:spPr>
          <a:xfrm>
            <a:off x="4289108" y="3682722"/>
            <a:ext cx="2795588" cy="362903"/>
          </a:xfrm>
          <a:prstGeom prst="rect">
            <a:avLst/>
          </a:prstGeom>
          <a:noFill/>
          <a:ln/>
        </p:spPr>
        <p:txBody>
          <a:bodyPr wrap="none" lIns="0" tIns="0" rIns="0" bIns="0" rtlCol="0" anchor="t"/>
          <a:lstStyle/>
          <a:p>
            <a:pPr algn="l" indent="0" marL="0">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rentlora.in</a:t>
            </a:r>
            <a:endParaRPr lang="en-US" sz="1750" dirty="0"/>
          </a:p>
        </p:txBody>
      </p:sp>
      <p:sp>
        <p:nvSpPr>
          <p:cNvPr id="13" name="Text 11"/>
          <p:cNvSpPr/>
          <p:nvPr/>
        </p:nvSpPr>
        <p:spPr>
          <a:xfrm>
            <a:off x="7545943" y="3682722"/>
            <a:ext cx="3446978" cy="362903"/>
          </a:xfrm>
          <a:prstGeom prst="rect">
            <a:avLst/>
          </a:prstGeom>
          <a:noFill/>
          <a:ln/>
        </p:spPr>
        <p:txBody>
          <a:bodyPr wrap="none" lIns="0" tIns="0" rIns="0" bIns="0" rtlCol="0" anchor="t"/>
          <a:lstStyle/>
          <a:p>
            <a:pPr algn="l" indent="0" marL="0">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Main rental platform UI</a:t>
            </a:r>
            <a:endParaRPr lang="en-US" sz="1750" dirty="0"/>
          </a:p>
        </p:txBody>
      </p:sp>
      <p:sp>
        <p:nvSpPr>
          <p:cNvPr id="14" name="Text 12"/>
          <p:cNvSpPr/>
          <p:nvPr/>
        </p:nvSpPr>
        <p:spPr>
          <a:xfrm>
            <a:off x="11454170" y="3682722"/>
            <a:ext cx="2148007" cy="362903"/>
          </a:xfrm>
          <a:prstGeom prst="rect">
            <a:avLst/>
          </a:prstGeom>
          <a:noFill/>
          <a:ln/>
        </p:spPr>
        <p:txBody>
          <a:bodyPr wrap="none" lIns="0" tIns="0" rIns="0" bIns="0" rtlCol="0" anchor="t"/>
          <a:lstStyle/>
          <a:p>
            <a:pPr algn="l" indent="0" marL="0">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rentlora-ui</a:t>
            </a:r>
            <a:endParaRPr lang="en-US" sz="1750" dirty="0"/>
          </a:p>
        </p:txBody>
      </p:sp>
      <p:sp>
        <p:nvSpPr>
          <p:cNvPr id="15" name="Shape 13"/>
          <p:cNvSpPr/>
          <p:nvPr/>
        </p:nvSpPr>
        <p:spPr>
          <a:xfrm>
            <a:off x="801410" y="4189333"/>
            <a:ext cx="13027581" cy="650319"/>
          </a:xfrm>
          <a:prstGeom prst="rect">
            <a:avLst/>
          </a:prstGeom>
          <a:solidFill>
            <a:srgbClr val="FFFFFF">
              <a:alpha val="4000"/>
            </a:srgbClr>
          </a:solidFill>
          <a:ln/>
        </p:spPr>
      </p:sp>
      <p:sp>
        <p:nvSpPr>
          <p:cNvPr id="16" name="Text 14"/>
          <p:cNvSpPr/>
          <p:nvPr/>
        </p:nvSpPr>
        <p:spPr>
          <a:xfrm>
            <a:off x="1028462" y="4333042"/>
            <a:ext cx="2799397" cy="362903"/>
          </a:xfrm>
          <a:prstGeom prst="rect">
            <a:avLst/>
          </a:prstGeom>
          <a:noFill/>
          <a:ln/>
        </p:spPr>
        <p:txBody>
          <a:bodyPr wrap="none" lIns="0" tIns="0" rIns="0" bIns="0" rtlCol="0" anchor="t"/>
          <a:lstStyle/>
          <a:p>
            <a:pPr algn="l" indent="0" marL="0">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ArgoCD</a:t>
            </a:r>
            <a:endParaRPr lang="en-US" sz="1750" dirty="0"/>
          </a:p>
        </p:txBody>
      </p:sp>
      <p:sp>
        <p:nvSpPr>
          <p:cNvPr id="17" name="Text 15"/>
          <p:cNvSpPr/>
          <p:nvPr/>
        </p:nvSpPr>
        <p:spPr>
          <a:xfrm>
            <a:off x="4289108" y="4333042"/>
            <a:ext cx="2795588" cy="362903"/>
          </a:xfrm>
          <a:prstGeom prst="rect">
            <a:avLst/>
          </a:prstGeom>
          <a:noFill/>
          <a:ln/>
        </p:spPr>
        <p:txBody>
          <a:bodyPr wrap="none" lIns="0" tIns="0" rIns="0" bIns="0" rtlCol="0" anchor="t"/>
          <a:lstStyle/>
          <a:p>
            <a:pPr algn="l" indent="0" marL="0">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argocd.rentlora.in</a:t>
            </a:r>
            <a:endParaRPr lang="en-US" sz="1750" dirty="0"/>
          </a:p>
        </p:txBody>
      </p:sp>
      <p:sp>
        <p:nvSpPr>
          <p:cNvPr id="18" name="Text 16"/>
          <p:cNvSpPr/>
          <p:nvPr/>
        </p:nvSpPr>
        <p:spPr>
          <a:xfrm>
            <a:off x="7545943" y="4333042"/>
            <a:ext cx="3446978" cy="362903"/>
          </a:xfrm>
          <a:prstGeom prst="rect">
            <a:avLst/>
          </a:prstGeom>
          <a:noFill/>
          <a:ln/>
        </p:spPr>
        <p:txBody>
          <a:bodyPr wrap="none" lIns="0" tIns="0" rIns="0" bIns="0" rtlCol="0" anchor="t"/>
          <a:lstStyle/>
          <a:p>
            <a:pPr algn="l" indent="0" marL="0">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GitOps control plane dashboard</a:t>
            </a:r>
            <a:endParaRPr lang="en-US" sz="1750" dirty="0"/>
          </a:p>
        </p:txBody>
      </p:sp>
      <p:sp>
        <p:nvSpPr>
          <p:cNvPr id="19" name="Text 17"/>
          <p:cNvSpPr/>
          <p:nvPr/>
        </p:nvSpPr>
        <p:spPr>
          <a:xfrm>
            <a:off x="11454170" y="4333042"/>
            <a:ext cx="2148007" cy="362903"/>
          </a:xfrm>
          <a:prstGeom prst="rect">
            <a:avLst/>
          </a:prstGeom>
          <a:noFill/>
          <a:ln/>
        </p:spPr>
        <p:txBody>
          <a:bodyPr wrap="none" lIns="0" tIns="0" rIns="0" bIns="0" rtlCol="0" anchor="t"/>
          <a:lstStyle/>
          <a:p>
            <a:pPr algn="l" indent="0" marL="0">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ArgoCD</a:t>
            </a:r>
            <a:endParaRPr lang="en-US" sz="1750" dirty="0"/>
          </a:p>
        </p:txBody>
      </p:sp>
      <p:sp>
        <p:nvSpPr>
          <p:cNvPr id="20" name="Shape 18"/>
          <p:cNvSpPr/>
          <p:nvPr/>
        </p:nvSpPr>
        <p:spPr>
          <a:xfrm>
            <a:off x="801410" y="4839653"/>
            <a:ext cx="13027581" cy="1013222"/>
          </a:xfrm>
          <a:prstGeom prst="rect">
            <a:avLst/>
          </a:prstGeom>
          <a:solidFill>
            <a:srgbClr val="000000">
              <a:alpha val="4000"/>
            </a:srgbClr>
          </a:solidFill>
          <a:ln/>
        </p:spPr>
      </p:sp>
      <p:sp>
        <p:nvSpPr>
          <p:cNvPr id="21" name="Text 19"/>
          <p:cNvSpPr/>
          <p:nvPr/>
        </p:nvSpPr>
        <p:spPr>
          <a:xfrm>
            <a:off x="1028462" y="4983361"/>
            <a:ext cx="2799397" cy="362903"/>
          </a:xfrm>
          <a:prstGeom prst="rect">
            <a:avLst/>
          </a:prstGeom>
          <a:noFill/>
          <a:ln/>
        </p:spPr>
        <p:txBody>
          <a:bodyPr wrap="none" lIns="0" tIns="0" rIns="0" bIns="0" rtlCol="0" anchor="t"/>
          <a:lstStyle/>
          <a:p>
            <a:pPr algn="l" indent="0" marL="0">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Headlamp</a:t>
            </a:r>
            <a:endParaRPr lang="en-US" sz="1750" dirty="0"/>
          </a:p>
        </p:txBody>
      </p:sp>
      <p:sp>
        <p:nvSpPr>
          <p:cNvPr id="22" name="Text 20"/>
          <p:cNvSpPr/>
          <p:nvPr/>
        </p:nvSpPr>
        <p:spPr>
          <a:xfrm>
            <a:off x="4289108" y="4983361"/>
            <a:ext cx="2795588" cy="362903"/>
          </a:xfrm>
          <a:prstGeom prst="rect">
            <a:avLst/>
          </a:prstGeom>
          <a:noFill/>
          <a:ln/>
        </p:spPr>
        <p:txBody>
          <a:bodyPr wrap="none" lIns="0" tIns="0" rIns="0" bIns="0" rtlCol="0" anchor="t"/>
          <a:lstStyle/>
          <a:p>
            <a:pPr algn="l" indent="0" marL="0">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headlamp.rentlora.in</a:t>
            </a:r>
            <a:endParaRPr lang="en-US" sz="1750" dirty="0"/>
          </a:p>
        </p:txBody>
      </p:sp>
      <p:sp>
        <p:nvSpPr>
          <p:cNvPr id="23" name="Text 21"/>
          <p:cNvSpPr/>
          <p:nvPr/>
        </p:nvSpPr>
        <p:spPr>
          <a:xfrm>
            <a:off x="7545943" y="4983361"/>
            <a:ext cx="3446978" cy="725805"/>
          </a:xfrm>
          <a:prstGeom prst="rect">
            <a:avLst/>
          </a:prstGeom>
          <a:noFill/>
          <a:ln/>
        </p:spPr>
        <p:txBody>
          <a:bodyPr wrap="square" lIns="0" tIns="0" rIns="0" bIns="0" rtlCol="0" anchor="t"/>
          <a:lstStyle/>
          <a:p>
            <a:pPr algn="l" indent="0" marL="0">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Kubernetes cluster management UI</a:t>
            </a:r>
            <a:endParaRPr lang="en-US" sz="1750" dirty="0"/>
          </a:p>
        </p:txBody>
      </p:sp>
      <p:sp>
        <p:nvSpPr>
          <p:cNvPr id="24" name="Text 22"/>
          <p:cNvSpPr/>
          <p:nvPr/>
        </p:nvSpPr>
        <p:spPr>
          <a:xfrm>
            <a:off x="11454170" y="4983361"/>
            <a:ext cx="2148007" cy="362903"/>
          </a:xfrm>
          <a:prstGeom prst="rect">
            <a:avLst/>
          </a:prstGeom>
          <a:noFill/>
          <a:ln/>
        </p:spPr>
        <p:txBody>
          <a:bodyPr wrap="none" lIns="0" tIns="0" rIns="0" bIns="0" rtlCol="0" anchor="t"/>
          <a:lstStyle/>
          <a:p>
            <a:pPr algn="l" indent="0" marL="0">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Headlamp</a:t>
            </a:r>
            <a:endParaRPr lang="en-US" sz="1750" dirty="0"/>
          </a:p>
        </p:txBody>
      </p:sp>
      <p:sp>
        <p:nvSpPr>
          <p:cNvPr id="25" name="Shape 23"/>
          <p:cNvSpPr/>
          <p:nvPr/>
        </p:nvSpPr>
        <p:spPr>
          <a:xfrm>
            <a:off x="801410" y="5852874"/>
            <a:ext cx="13027581" cy="650319"/>
          </a:xfrm>
          <a:prstGeom prst="rect">
            <a:avLst/>
          </a:prstGeom>
          <a:solidFill>
            <a:srgbClr val="FFFFFF">
              <a:alpha val="4000"/>
            </a:srgbClr>
          </a:solidFill>
          <a:ln/>
        </p:spPr>
      </p:sp>
      <p:sp>
        <p:nvSpPr>
          <p:cNvPr id="26" name="Text 24"/>
          <p:cNvSpPr/>
          <p:nvPr/>
        </p:nvSpPr>
        <p:spPr>
          <a:xfrm>
            <a:off x="1028462" y="5996583"/>
            <a:ext cx="2799397" cy="362903"/>
          </a:xfrm>
          <a:prstGeom prst="rect">
            <a:avLst/>
          </a:prstGeom>
          <a:noFill/>
          <a:ln/>
        </p:spPr>
        <p:txBody>
          <a:bodyPr wrap="none" lIns="0" tIns="0" rIns="0" bIns="0" rtlCol="0" anchor="t"/>
          <a:lstStyle/>
          <a:p>
            <a:pPr algn="l" indent="0" marL="0">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Grafana</a:t>
            </a:r>
            <a:endParaRPr lang="en-US" sz="1750" dirty="0"/>
          </a:p>
        </p:txBody>
      </p:sp>
      <p:sp>
        <p:nvSpPr>
          <p:cNvPr id="27" name="Text 25"/>
          <p:cNvSpPr/>
          <p:nvPr/>
        </p:nvSpPr>
        <p:spPr>
          <a:xfrm>
            <a:off x="4289108" y="5996583"/>
            <a:ext cx="2795588" cy="362903"/>
          </a:xfrm>
          <a:prstGeom prst="rect">
            <a:avLst/>
          </a:prstGeom>
          <a:noFill/>
          <a:ln/>
        </p:spPr>
        <p:txBody>
          <a:bodyPr wrap="none" lIns="0" tIns="0" rIns="0" bIns="0" rtlCol="0" anchor="t"/>
          <a:lstStyle/>
          <a:p>
            <a:pPr algn="l" indent="0" marL="0">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grafana.rentlora.in</a:t>
            </a:r>
            <a:endParaRPr lang="en-US" sz="1750" dirty="0"/>
          </a:p>
        </p:txBody>
      </p:sp>
      <p:sp>
        <p:nvSpPr>
          <p:cNvPr id="28" name="Text 26"/>
          <p:cNvSpPr/>
          <p:nvPr/>
        </p:nvSpPr>
        <p:spPr>
          <a:xfrm>
            <a:off x="7545943" y="5996583"/>
            <a:ext cx="3446978" cy="362903"/>
          </a:xfrm>
          <a:prstGeom prst="rect">
            <a:avLst/>
          </a:prstGeom>
          <a:noFill/>
          <a:ln/>
        </p:spPr>
        <p:txBody>
          <a:bodyPr wrap="none" lIns="0" tIns="0" rIns="0" bIns="0" rtlCol="0" anchor="t"/>
          <a:lstStyle/>
          <a:p>
            <a:pPr algn="l" indent="0" marL="0">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Log visualization and monitoring</a:t>
            </a:r>
            <a:endParaRPr lang="en-US" sz="1750" dirty="0"/>
          </a:p>
        </p:txBody>
      </p:sp>
      <p:sp>
        <p:nvSpPr>
          <p:cNvPr id="29" name="Text 27"/>
          <p:cNvSpPr/>
          <p:nvPr/>
        </p:nvSpPr>
        <p:spPr>
          <a:xfrm>
            <a:off x="11454170" y="5996583"/>
            <a:ext cx="2148007" cy="362903"/>
          </a:xfrm>
          <a:prstGeom prst="rect">
            <a:avLst/>
          </a:prstGeom>
          <a:noFill/>
          <a:ln/>
        </p:spPr>
        <p:txBody>
          <a:bodyPr wrap="none" lIns="0" tIns="0" rIns="0" bIns="0" rtlCol="0" anchor="t"/>
          <a:lstStyle/>
          <a:p>
            <a:pPr algn="l" indent="0" marL="0">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Grafana</a:t>
            </a:r>
            <a:endParaRPr lang="en-US" sz="1750" dirty="0"/>
          </a:p>
        </p:txBody>
      </p:sp>
      <p:sp>
        <p:nvSpPr>
          <p:cNvPr id="30" name="Text 28"/>
          <p:cNvSpPr/>
          <p:nvPr/>
        </p:nvSpPr>
        <p:spPr>
          <a:xfrm>
            <a:off x="793790" y="6765965"/>
            <a:ext cx="13042821" cy="362903"/>
          </a:xfrm>
          <a:prstGeom prst="rect">
            <a:avLst/>
          </a:prstGeom>
          <a:noFill/>
          <a:ln/>
        </p:spPr>
        <p:txBody>
          <a:bodyPr wrap="none" lIns="0" tIns="0" rIns="0" bIns="0" rtlCol="0" anchor="t"/>
          <a:lstStyle/>
          <a:p>
            <a:pPr algn="l" indent="0" marL="0">
              <a:lnSpc>
                <a:spcPts val="2850"/>
              </a:lnSpc>
              <a:buNone/>
            </a:pPr>
            <a:r>
              <a:rPr lang="en-US" sz="1750" b="1" dirty="0">
                <a:solidFill>
                  <a:srgbClr val="1E3063"/>
                </a:solidFill>
                <a:latin typeface="Instrument Sans Medium" pitchFamily="34" charset="0"/>
                <a:ea typeface="Instrument Sans Medium" pitchFamily="34" charset="-122"/>
                <a:cs typeface="Instrument Sans Medium" pitchFamily="34" charset="-120"/>
              </a:rPr>
              <a:t>Traffic Flow:</a:t>
            </a:r>
            <a:pPr algn="l" indent="0" marL="0">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 Browser → HAProxy → kgateway → HTTPRoute (path-based) → Backend service in rentlora-prod</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2026-04-28T15:45:32Z</dcterms:created>
  <dcterms:modified xsi:type="dcterms:W3CDTF">2026-04-28T15:45:32Z</dcterms:modified>
</cp:coreProperties>
</file>